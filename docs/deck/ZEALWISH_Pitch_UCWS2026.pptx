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AI companion market (USD B)</c:v>
                </c:pt>
              </c:strCache>
            </c:strRef>
          </c:tx>
          <c:spPr>
            <a:solidFill>
              <a:srgbClr val="FF2D2D"/>
            </a:solidFill>
            <a:effectLst/>
          </c:spPr>
          <c:invertIfNegative val="0"/>
          <c:dLbls>
            <c:numFmt formatCode="#,##0" sourceLinked="0"/>
            <c:txPr>
              <a:bodyPr/>
              <a:lstStyle/>
              <a:p>
                <a:pPr>
                  <a:defRPr b="0" i="0" strike="noStrike" sz="1000" u="none">
                    <a:solidFill>
                      <a:srgbClr val="FFFFFF"/>
                    </a:solidFill>
                    <a:latin typeface="Courier New"/>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c:v>
                  </c:pt>
                  <c:pt idx="3">
                    <c:v>2027</c:v>
                  </c:pt>
                  <c:pt idx="4">
                    <c:v>2028</c:v>
                  </c:pt>
                  <c:pt idx="5">
                    <c:v>2029</c:v>
                  </c:pt>
                  <c:pt idx="6">
                    <c:v>2030</c:v>
                  </c:pt>
                </c:lvl>
              </c:multiLvlStrCache>
            </c:multiLvlStrRef>
          </c:cat>
          <c:val>
            <c:numRef>
              <c:f>Sheet1!$B$2:$B$8</c:f>
              <c:numCache>
                <c:formatCode>General</c:formatCode>
                <c:ptCount val="7"/>
                <c:pt idx="0">
                  <c:v>28.2</c:v>
                </c:pt>
                <c:pt idx="1">
                  <c:v>36.8</c:v>
                </c:pt>
                <c:pt idx="2">
                  <c:v>48.1</c:v>
                </c:pt>
                <c:pt idx="3">
                  <c:v>62.9</c:v>
                </c:pt>
                <c:pt idx="4">
                  <c:v>82.3</c:v>
                </c:pt>
                <c:pt idx="5">
                  <c:v>107.6</c:v>
                </c:pt>
                <c:pt idx="6">
                  <c:v>140.8</c:v>
                </c:pt>
              </c:numCache>
            </c:numRef>
          </c:val>
        </c:ser>
        <c:dLbls>
          <c:numFmt formatCode="#,##0" sourceLinked="0"/>
          <c:txPr>
            <a:bodyPr/>
            <a:lstStyle/>
            <a:p>
              <a:pPr>
                <a:defRPr b="0" i="0" strike="noStrike" sz="1000" u="none">
                  <a:solidFill>
                    <a:srgbClr val="FFFFFF"/>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2B31"/>
            </a:solidFill>
            <a:prstDash val="solid"/>
            <a:round/>
          </a:ln>
        </c:spPr>
        <c:txPr>
          <a:bodyPr/>
          <a:lstStyle/>
          <a:p>
            <a:pPr>
              <a:defRPr sz="1100" b="0" i="0" u="none" strike="noStrike">
                <a:solidFill>
                  <a:srgbClr val="A6A6AE"/>
                </a:solidFill>
                <a:latin typeface="Courier New"/>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A0A0B"/>
        </a:solidFill>
        <a:ln>
          <a:noFill/>
        </a:ln>
        <a:effectLst/>
      </c:spPr>
    </c:plotArea>
    <c:plotVisOnly val="1"/>
    <c:dispBlanksAs val="span"/>
  </c:chart>
  <c:spPr>
    <a:solidFill>
      <a:srgbClr val="0A0A0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slow, eye contact. 'This is ZEALWISH. Today, your AI companion lives inside someone else's database. We think the character — and every memory it holds — should belong to you. Create. Grow. Own your AI character.' (15s)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Companion AI is huge and sticky — 250 to 300 million people. But the user owns nothing. Memories live on the company's servers, train the company's model, and vanish if you leave. When Character.AI changed its privacy policy in 2025, users revolted — because they realized the relationship was never theirs.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Two waves. One: the companion market is exploding — 28 to 140 billion dollars by 2030, over 30% a year. Two: the ownership rails just arrived — NIST, W3C, decentralized identity for agents. For the first time, a character can have a portable identity. Nobody owns the consumer character layer yet. We're building it.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Three layers. Create a character. Grow it through real, persistent memory. Own it through a wallet-linked passport. Our principle: NFT is not the product — ownership is. We are not selling speculation; we're giving people control of a relationship they care about.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mockup. Today we have a working desktop and web app: create a character, chat in real time, talk to it with voice in and out, and it remembers — backed by a real memory engine, with OKX wallet connect already live. React, Electron, local-first, open source.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moat. Most companions store memory as a flat chat log in their cloud. We built a real memory engine: capture, distill, merge, store, recall — running locally, forming episodic awareness, tracking how the relationship grows. The punchline: Character.AI remembers you on their servers; ZEALWISH remembers you on yours.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is delivered through a character passport. Wallet connect is live today. Next, the passport itself — a token that anchors the character's identity, provenance, and permissions, with memory kept private off-chain and proven by hash. Then portability into other worlds. I'll be honest about what's shipped versus what's next — judges reward real, not hype.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we win THIS competition. UCWS judges real usage and community impact, not slides. So ZEALWISH isn't just an app — it's infrastructure. We open-source the memory schema, the passport spec, and an SDK, so other teams can build on us. A character you make here can travel into someone else's app. That's the whole thesis of this hackathon.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[Switch to the app.] I create a character in seconds. I tell it one thing about me. I close it, reopen it — it remembers, in its own words, because the memory is real and local. Then I connect my wallet, and the character is tied to me, not to a server I don't control. (60s — this is the heart of the pitch; rehearse the exact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The AI companion market is 28 billion dollars today, heading to 140 billion by 2030 at nearly 31% a year — Grand View Research. We don't need all of it. Our wedge is the slice that cares about ownership — plus the creators and developers who need a character that can move between products.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a real, working prototype — memory, voice, and wallet connect all live, 22 tests green, all in the open. The next 90 days: ship the passport mint, put up a public demo, get to our first hundred wallet-owned characters, and release the SDK so other teams integrate. Concrete, measurable, and usage-first.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Three reasons. Trust — local-first ownership is the one thing the incumbents structurally can't offer without breaking their business. Network effects — every new world that reads the passport makes every character more valuable. And a creator economy on top. Open core, plus a marketplace, plus passport services.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Your AI, your memory, your will. We're looking for early users and creators, open-source contributors, and pre-seed partners to build the ownership layer for the AI companion era. Come create a character that's truly yours. Thank you. (20s) — End on the tagline, hold eye contact, then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7818120" y="868680"/>
            <a:ext cx="3794760" cy="4206240"/>
          </a:xfrm>
          <a:prstGeom prst="roundRect">
            <a:avLst>
              <a:gd name="adj" fmla="val 1446"/>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pic>
        <p:nvPicPr>
          <p:cNvPr id="3" name="Image 0" descr="/sessions/quirky-peaceful-hypatia/mnt/ZEALWISH/frontend-v4/assets/zealwish-main-character.png">    </p:cNvPr>
          <p:cNvPicPr>
            <a:picLocks noChangeAspect="1"/>
          </p:cNvPicPr>
          <p:nvPr/>
        </p:nvPicPr>
        <p:blipFill>
          <a:blip r:embed="rId1"/>
          <a:srcRect l="0" r="0" t="0" b="0"/>
          <a:stretch/>
        </p:blipFill>
        <p:spPr>
          <a:xfrm>
            <a:off x="7955280" y="1024128"/>
            <a:ext cx="3520440" cy="3520440"/>
          </a:xfrm>
          <a:prstGeom prst="rect">
            <a:avLst/>
          </a:prstGeom>
        </p:spPr>
      </p:pic>
      <p:sp>
        <p:nvSpPr>
          <p:cNvPr id="4" name="Text 1"/>
          <p:cNvSpPr/>
          <p:nvPr/>
        </p:nvSpPr>
        <p:spPr>
          <a:xfrm>
            <a:off x="7955280" y="4681728"/>
            <a:ext cx="3520440" cy="274320"/>
          </a:xfrm>
          <a:prstGeom prst="rect">
            <a:avLst/>
          </a:prstGeom>
          <a:noFill/>
          <a:ln/>
        </p:spPr>
        <p:txBody>
          <a:bodyPr wrap="square" lIns="0" tIns="0" rIns="0" bIns="0" rtlCol="0" anchor="ctr"/>
          <a:lstStyle/>
          <a:p>
            <a:pPr algn="l" indent="0" marL="0">
              <a:buNone/>
            </a:pPr>
            <a:r>
              <a:rPr lang="en-US" sz="1000" dirty="0">
                <a:solidFill>
                  <a:srgbClr val="FF2D2D"/>
                </a:solidFill>
                <a:latin typeface="Courier New" pitchFamily="34" charset="0"/>
                <a:ea typeface="Courier New" pitchFamily="34" charset="-122"/>
                <a:cs typeface="Courier New" pitchFamily="34" charset="-120"/>
              </a:rPr>
              <a:t>ZEALWISH-0001  /  ALIVE</a:t>
            </a:r>
            <a:endParaRPr lang="en-US" sz="1000" dirty="0"/>
          </a:p>
        </p:txBody>
      </p:sp>
      <p:sp>
        <p:nvSpPr>
          <p:cNvPr id="5" name="Text 2"/>
          <p:cNvSpPr/>
          <p:nvPr/>
        </p:nvSpPr>
        <p:spPr>
          <a:xfrm>
            <a:off x="594360" y="1051560"/>
            <a:ext cx="6949440" cy="320040"/>
          </a:xfrm>
          <a:prstGeom prst="rect">
            <a:avLst/>
          </a:prstGeom>
          <a:noFill/>
          <a:ln/>
        </p:spPr>
        <p:txBody>
          <a:bodyPr wrap="square" lIns="0" tIns="0" rIns="0" bIns="0" rtlCol="0" anchor="ctr"/>
          <a:lstStyle/>
          <a:p>
            <a:pPr indent="0" marL="0">
              <a:buNone/>
            </a:pPr>
            <a:r>
              <a:rPr lang="en-US" sz="1300" b="1" spc="200" kern="0" dirty="0">
                <a:solidFill>
                  <a:srgbClr val="FF2D2D"/>
                </a:solidFill>
                <a:latin typeface="Courier New" pitchFamily="34" charset="0"/>
                <a:ea typeface="Courier New" pitchFamily="34" charset="-122"/>
                <a:cs typeface="Courier New" pitchFamily="34" charset="-120"/>
              </a:rPr>
              <a:t>WALLET-OWNED  AI  CHARACTER  PLATFORM</a:t>
            </a:r>
            <a:endParaRPr lang="en-US" sz="1300" dirty="0"/>
          </a:p>
        </p:txBody>
      </p:sp>
      <p:sp>
        <p:nvSpPr>
          <p:cNvPr id="6" name="Text 3"/>
          <p:cNvSpPr/>
          <p:nvPr/>
        </p:nvSpPr>
        <p:spPr>
          <a:xfrm>
            <a:off x="594360" y="1417320"/>
            <a:ext cx="7040880" cy="1371600"/>
          </a:xfrm>
          <a:prstGeom prst="rect">
            <a:avLst/>
          </a:prstGeom>
          <a:noFill/>
          <a:ln/>
        </p:spPr>
        <p:txBody>
          <a:bodyPr wrap="square" lIns="0" tIns="0" rIns="0" bIns="0" rtlCol="0" anchor="ctr"/>
          <a:lstStyle/>
          <a:p>
            <a:pPr indent="0" marL="0">
              <a:buNone/>
            </a:pPr>
            <a:r>
              <a:rPr lang="en-US" sz="9200" b="1" spc="100" kern="0" dirty="0">
                <a:solidFill>
                  <a:srgbClr val="FFFFFF"/>
                </a:solidFill>
                <a:latin typeface="Arial" pitchFamily="34" charset="0"/>
                <a:ea typeface="Arial" pitchFamily="34" charset="-122"/>
                <a:cs typeface="Arial" pitchFamily="34" charset="-120"/>
              </a:rPr>
              <a:t>ZEALWISH</a:t>
            </a:r>
            <a:endParaRPr lang="en-US" sz="9200" dirty="0"/>
          </a:p>
        </p:txBody>
      </p:sp>
      <p:sp>
        <p:nvSpPr>
          <p:cNvPr id="7" name="Text 4"/>
          <p:cNvSpPr/>
          <p:nvPr/>
        </p:nvSpPr>
        <p:spPr>
          <a:xfrm>
            <a:off x="594360" y="2788920"/>
            <a:ext cx="7040880" cy="54864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Create. Grow. </a:t>
            </a:r>
            <a:pPr indent="0" marL="0">
              <a:buNone/>
            </a:pPr>
            <a:r>
              <a:rPr lang="en-US" sz="2700" b="1" dirty="0">
                <a:solidFill>
                  <a:srgbClr val="FF2D2D"/>
                </a:solidFill>
                <a:latin typeface="Arial" pitchFamily="34" charset="0"/>
                <a:ea typeface="Arial" pitchFamily="34" charset="-122"/>
                <a:cs typeface="Arial" pitchFamily="34" charset="-120"/>
              </a:rPr>
              <a:t>Own</a:t>
            </a:r>
            <a:pPr indent="0" marL="0">
              <a:buNone/>
            </a:pPr>
            <a:r>
              <a:rPr lang="en-US" sz="2700" b="1" dirty="0">
                <a:solidFill>
                  <a:srgbClr val="FFFFFF"/>
                </a:solidFill>
                <a:latin typeface="Arial" pitchFamily="34" charset="0"/>
                <a:ea typeface="Arial" pitchFamily="34" charset="-122"/>
                <a:cs typeface="Arial" pitchFamily="34" charset="-120"/>
              </a:rPr>
              <a:t> your AI character.</a:t>
            </a:r>
            <a:endParaRPr lang="en-US" sz="2700" dirty="0"/>
          </a:p>
        </p:txBody>
      </p:sp>
      <p:sp>
        <p:nvSpPr>
          <p:cNvPr id="8" name="Text 5"/>
          <p:cNvSpPr/>
          <p:nvPr/>
        </p:nvSpPr>
        <p:spPr>
          <a:xfrm>
            <a:off x="594360" y="3429000"/>
            <a:ext cx="6858000" cy="822960"/>
          </a:xfrm>
          <a:prstGeom prst="rect">
            <a:avLst/>
          </a:prstGeom>
          <a:noFill/>
          <a:ln/>
        </p:spPr>
        <p:txBody>
          <a:bodyPr wrap="square" lIns="0" tIns="0" rIns="0" bIns="0" rtlCol="0" anchor="ctr"/>
          <a:lstStyle/>
          <a:p>
            <a:pPr indent="0" marL="0">
              <a:lnSpc>
                <a:spcPct val="115000"/>
              </a:lnSpc>
              <a:buNone/>
            </a:pPr>
            <a:r>
              <a:rPr lang="en-US" sz="1500" dirty="0">
                <a:solidFill>
                  <a:srgbClr val="A6A6AE"/>
                </a:solidFill>
                <a:latin typeface="Arial" pitchFamily="34" charset="0"/>
                <a:ea typeface="Arial" pitchFamily="34" charset="-122"/>
                <a:cs typeface="Arial" pitchFamily="34" charset="-120"/>
              </a:rPr>
              <a:t>Open-source character infrastructure: a portable, wallet-owned memory passport for the next generation of AI companions.</a:t>
            </a:r>
            <a:endParaRPr lang="en-US" sz="1500" dirty="0"/>
          </a:p>
        </p:txBody>
      </p:sp>
      <p:sp>
        <p:nvSpPr>
          <p:cNvPr id="9" name="Text 6"/>
          <p:cNvSpPr/>
          <p:nvPr/>
        </p:nvSpPr>
        <p:spPr>
          <a:xfrm>
            <a:off x="594360" y="4343400"/>
            <a:ext cx="1645920" cy="274320"/>
          </a:xfrm>
          <a:prstGeom prst="rect">
            <a:avLst/>
          </a:prstGeom>
          <a:noFill/>
          <a:ln/>
        </p:spPr>
        <p:txBody>
          <a:bodyPr wrap="square" lIns="0" tIns="0" rIns="0" bIns="0" rtlCol="0" anchor="ctr"/>
          <a:lstStyle/>
          <a:p>
            <a:pPr indent="0" marL="0">
              <a:buNone/>
            </a:pPr>
            <a:r>
              <a:rPr lang="en-US" sz="1400" b="1" dirty="0">
                <a:solidFill>
                  <a:srgbClr val="FF2D2D"/>
                </a:solidFill>
                <a:latin typeface="Courier New" pitchFamily="34" charset="0"/>
                <a:ea typeface="Courier New" pitchFamily="34" charset="-122"/>
                <a:cs typeface="Courier New" pitchFamily="34" charset="-120"/>
              </a:rPr>
              <a:t>01</a:t>
            </a:r>
            <a:endParaRPr lang="en-US" sz="1400" dirty="0"/>
          </a:p>
        </p:txBody>
      </p:sp>
      <p:sp>
        <p:nvSpPr>
          <p:cNvPr id="10" name="Text 7"/>
          <p:cNvSpPr/>
          <p:nvPr/>
        </p:nvSpPr>
        <p:spPr>
          <a:xfrm>
            <a:off x="594360" y="4617720"/>
            <a:ext cx="1691640" cy="274320"/>
          </a:xfrm>
          <a:prstGeom prst="rect">
            <a:avLst/>
          </a:prstGeom>
          <a:noFill/>
          <a:ln/>
        </p:spPr>
        <p:txBody>
          <a:bodyPr wrap="square" lIns="0" tIns="0" rIns="0" bIns="0" rtlCol="0" anchor="ctr"/>
          <a:lstStyle/>
          <a:p>
            <a:pPr indent="0" marL="0">
              <a:buNone/>
            </a:pPr>
            <a:r>
              <a:rPr lang="en-US" sz="1100" dirty="0">
                <a:solidFill>
                  <a:srgbClr val="A6A6AE"/>
                </a:solidFill>
                <a:latin typeface="Arial" pitchFamily="34" charset="0"/>
                <a:ea typeface="Arial" pitchFamily="34" charset="-122"/>
                <a:cs typeface="Arial" pitchFamily="34" charset="-120"/>
              </a:rPr>
              <a:t>Wallet login</a:t>
            </a:r>
            <a:endParaRPr lang="en-US" sz="1100" dirty="0"/>
          </a:p>
        </p:txBody>
      </p:sp>
      <p:sp>
        <p:nvSpPr>
          <p:cNvPr id="11" name="Text 8"/>
          <p:cNvSpPr/>
          <p:nvPr/>
        </p:nvSpPr>
        <p:spPr>
          <a:xfrm>
            <a:off x="2350008" y="4343400"/>
            <a:ext cx="1645920" cy="274320"/>
          </a:xfrm>
          <a:prstGeom prst="rect">
            <a:avLst/>
          </a:prstGeom>
          <a:noFill/>
          <a:ln/>
        </p:spPr>
        <p:txBody>
          <a:bodyPr wrap="square" lIns="0" tIns="0" rIns="0" bIns="0" rtlCol="0" anchor="ctr"/>
          <a:lstStyle/>
          <a:p>
            <a:pPr indent="0" marL="0">
              <a:buNone/>
            </a:pPr>
            <a:r>
              <a:rPr lang="en-US" sz="1400" b="1" dirty="0">
                <a:solidFill>
                  <a:srgbClr val="FF2D2D"/>
                </a:solidFill>
                <a:latin typeface="Courier New" pitchFamily="34" charset="0"/>
                <a:ea typeface="Courier New" pitchFamily="34" charset="-122"/>
                <a:cs typeface="Courier New" pitchFamily="34" charset="-120"/>
              </a:rPr>
              <a:t>02</a:t>
            </a:r>
            <a:endParaRPr lang="en-US" sz="1400" dirty="0"/>
          </a:p>
        </p:txBody>
      </p:sp>
      <p:sp>
        <p:nvSpPr>
          <p:cNvPr id="12" name="Text 9"/>
          <p:cNvSpPr/>
          <p:nvPr/>
        </p:nvSpPr>
        <p:spPr>
          <a:xfrm>
            <a:off x="2350008" y="4617720"/>
            <a:ext cx="1691640" cy="274320"/>
          </a:xfrm>
          <a:prstGeom prst="rect">
            <a:avLst/>
          </a:prstGeom>
          <a:noFill/>
          <a:ln/>
        </p:spPr>
        <p:txBody>
          <a:bodyPr wrap="square" lIns="0" tIns="0" rIns="0" bIns="0" rtlCol="0" anchor="ctr"/>
          <a:lstStyle/>
          <a:p>
            <a:pPr indent="0" marL="0">
              <a:buNone/>
            </a:pPr>
            <a:r>
              <a:rPr lang="en-US" sz="1100" dirty="0">
                <a:solidFill>
                  <a:srgbClr val="A6A6AE"/>
                </a:solidFill>
                <a:latin typeface="Arial" pitchFamily="34" charset="0"/>
                <a:ea typeface="Arial" pitchFamily="34" charset="-122"/>
                <a:cs typeface="Arial" pitchFamily="34" charset="-120"/>
              </a:rPr>
              <a:t>AI character</a:t>
            </a:r>
            <a:endParaRPr lang="en-US" sz="1100" dirty="0"/>
          </a:p>
        </p:txBody>
      </p:sp>
      <p:sp>
        <p:nvSpPr>
          <p:cNvPr id="13" name="Text 10"/>
          <p:cNvSpPr/>
          <p:nvPr/>
        </p:nvSpPr>
        <p:spPr>
          <a:xfrm>
            <a:off x="4105656" y="4343400"/>
            <a:ext cx="1645920" cy="274320"/>
          </a:xfrm>
          <a:prstGeom prst="rect">
            <a:avLst/>
          </a:prstGeom>
          <a:noFill/>
          <a:ln/>
        </p:spPr>
        <p:txBody>
          <a:bodyPr wrap="square" lIns="0" tIns="0" rIns="0" bIns="0" rtlCol="0" anchor="ctr"/>
          <a:lstStyle/>
          <a:p>
            <a:pPr indent="0" marL="0">
              <a:buNone/>
            </a:pPr>
            <a:r>
              <a:rPr lang="en-US" sz="1400" b="1" dirty="0">
                <a:solidFill>
                  <a:srgbClr val="FF2D2D"/>
                </a:solidFill>
                <a:latin typeface="Courier New" pitchFamily="34" charset="0"/>
                <a:ea typeface="Courier New" pitchFamily="34" charset="-122"/>
                <a:cs typeface="Courier New" pitchFamily="34" charset="-120"/>
              </a:rPr>
              <a:t>03</a:t>
            </a:r>
            <a:endParaRPr lang="en-US" sz="1400" dirty="0"/>
          </a:p>
        </p:txBody>
      </p:sp>
      <p:sp>
        <p:nvSpPr>
          <p:cNvPr id="14" name="Text 11"/>
          <p:cNvSpPr/>
          <p:nvPr/>
        </p:nvSpPr>
        <p:spPr>
          <a:xfrm>
            <a:off x="4105656" y="4617720"/>
            <a:ext cx="1691640" cy="274320"/>
          </a:xfrm>
          <a:prstGeom prst="rect">
            <a:avLst/>
          </a:prstGeom>
          <a:noFill/>
          <a:ln/>
        </p:spPr>
        <p:txBody>
          <a:bodyPr wrap="square" lIns="0" tIns="0" rIns="0" bIns="0" rtlCol="0" anchor="ctr"/>
          <a:lstStyle/>
          <a:p>
            <a:pPr indent="0" marL="0">
              <a:buNone/>
            </a:pPr>
            <a:r>
              <a:rPr lang="en-US" sz="1100" dirty="0">
                <a:solidFill>
                  <a:srgbClr val="A6A6AE"/>
                </a:solidFill>
                <a:latin typeface="Arial" pitchFamily="34" charset="0"/>
                <a:ea typeface="Arial" pitchFamily="34" charset="-122"/>
                <a:cs typeface="Arial" pitchFamily="34" charset="-120"/>
              </a:rPr>
              <a:t>Memory vault</a:t>
            </a:r>
            <a:endParaRPr lang="en-US" sz="1100" dirty="0"/>
          </a:p>
        </p:txBody>
      </p:sp>
      <p:sp>
        <p:nvSpPr>
          <p:cNvPr id="15" name="Text 12"/>
          <p:cNvSpPr/>
          <p:nvPr/>
        </p:nvSpPr>
        <p:spPr>
          <a:xfrm>
            <a:off x="5861304" y="4343400"/>
            <a:ext cx="1645920" cy="274320"/>
          </a:xfrm>
          <a:prstGeom prst="rect">
            <a:avLst/>
          </a:prstGeom>
          <a:noFill/>
          <a:ln/>
        </p:spPr>
        <p:txBody>
          <a:bodyPr wrap="square" lIns="0" tIns="0" rIns="0" bIns="0" rtlCol="0" anchor="ctr"/>
          <a:lstStyle/>
          <a:p>
            <a:pPr indent="0" marL="0">
              <a:buNone/>
            </a:pPr>
            <a:r>
              <a:rPr lang="en-US" sz="1400" b="1" dirty="0">
                <a:solidFill>
                  <a:srgbClr val="FF2D2D"/>
                </a:solidFill>
                <a:latin typeface="Courier New" pitchFamily="34" charset="0"/>
                <a:ea typeface="Courier New" pitchFamily="34" charset="-122"/>
                <a:cs typeface="Courier New" pitchFamily="34" charset="-120"/>
              </a:rPr>
              <a:t>04</a:t>
            </a:r>
            <a:endParaRPr lang="en-US" sz="1400" dirty="0"/>
          </a:p>
        </p:txBody>
      </p:sp>
      <p:sp>
        <p:nvSpPr>
          <p:cNvPr id="16" name="Text 13"/>
          <p:cNvSpPr/>
          <p:nvPr/>
        </p:nvSpPr>
        <p:spPr>
          <a:xfrm>
            <a:off x="5861304" y="4617720"/>
            <a:ext cx="1691640" cy="274320"/>
          </a:xfrm>
          <a:prstGeom prst="rect">
            <a:avLst/>
          </a:prstGeom>
          <a:noFill/>
          <a:ln/>
        </p:spPr>
        <p:txBody>
          <a:bodyPr wrap="square" lIns="0" tIns="0" rIns="0" bIns="0" rtlCol="0" anchor="ctr"/>
          <a:lstStyle/>
          <a:p>
            <a:pPr indent="0" marL="0">
              <a:buNone/>
            </a:pPr>
            <a:r>
              <a:rPr lang="en-US" sz="1100" dirty="0">
                <a:solidFill>
                  <a:srgbClr val="A6A6AE"/>
                </a:solidFill>
                <a:latin typeface="Arial" pitchFamily="34" charset="0"/>
                <a:ea typeface="Arial" pitchFamily="34" charset="-122"/>
                <a:cs typeface="Arial" pitchFamily="34" charset="-120"/>
              </a:rPr>
              <a:t>Cross-world passport</a:t>
            </a:r>
            <a:endParaRPr lang="en-US" sz="1100" dirty="0"/>
          </a:p>
        </p:txBody>
      </p:sp>
      <p:sp>
        <p:nvSpPr>
          <p:cNvPr id="17" name="Text 14"/>
          <p:cNvSpPr/>
          <p:nvPr/>
        </p:nvSpPr>
        <p:spPr>
          <a:xfrm>
            <a:off x="594360" y="5943600"/>
            <a:ext cx="10972800" cy="365760"/>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William Bello</a:t>
            </a:r>
            <a:pPr indent="0" marL="0">
              <a:buNone/>
            </a:pPr>
            <a:r>
              <a:rPr lang="en-US" sz="1100" dirty="0">
                <a:solidFill>
                  <a:srgbClr val="6C6C75"/>
                </a:solidFill>
                <a:latin typeface="Courier New" pitchFamily="34" charset="0"/>
                <a:ea typeface="Courier New" pitchFamily="34" charset="-122"/>
                <a:cs typeface="Courier New" pitchFamily="34" charset="-120"/>
              </a:rPr>
              <a:t>   ·   UCWS Singapore 2026   ·   github.com/KINGKAZMAX/ZEALWISH-WEB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01  /  THE PROBLEM</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You don't own your AI.</a:t>
            </a:r>
            <a:endParaRPr lang="en-US" sz="3800" dirty="0"/>
          </a:p>
        </p:txBody>
      </p:sp>
      <p:sp>
        <p:nvSpPr>
          <p:cNvPr id="6" name="Text 4"/>
          <p:cNvSpPr/>
          <p:nvPr/>
        </p:nvSpPr>
        <p:spPr>
          <a:xfrm>
            <a:off x="594360" y="1783080"/>
            <a:ext cx="6400800" cy="1188720"/>
          </a:xfrm>
          <a:prstGeom prst="rect">
            <a:avLst/>
          </a:prstGeom>
          <a:noFill/>
          <a:ln/>
        </p:spPr>
        <p:txBody>
          <a:bodyPr wrap="square" lIns="0" tIns="0" rIns="0" bIns="0" rtlCol="0" anchor="ctr"/>
          <a:lstStyle/>
          <a:p>
            <a:pPr indent="0" marL="0">
              <a:lnSpc>
                <a:spcPct val="120000"/>
              </a:lnSpc>
              <a:buNone/>
            </a:pPr>
            <a:r>
              <a:rPr lang="en-US" sz="1700" dirty="0">
                <a:solidFill>
                  <a:srgbClr val="A6A6AE"/>
                </a:solidFill>
                <a:latin typeface="Arial" pitchFamily="34" charset="0"/>
                <a:ea typeface="Arial" pitchFamily="34" charset="-122"/>
                <a:cs typeface="Arial" pitchFamily="34" charset="-120"/>
              </a:rPr>
              <a:t>Today's AI companions keep your character — and every memory it holds — locked inside one company's database. Switch apps, and you start again from zero. The relationship was never yours.</a:t>
            </a:r>
            <a:endParaRPr lang="en-US" sz="1700" dirty="0"/>
          </a:p>
        </p:txBody>
      </p:sp>
      <p:sp>
        <p:nvSpPr>
          <p:cNvPr id="7" name="Shape 5"/>
          <p:cNvSpPr/>
          <p:nvPr/>
        </p:nvSpPr>
        <p:spPr>
          <a:xfrm>
            <a:off x="594360" y="3246120"/>
            <a:ext cx="2057400" cy="1417320"/>
          </a:xfrm>
          <a:prstGeom prst="roundRect">
            <a:avLst>
              <a:gd name="adj" fmla="val 3871"/>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8" name="Text 6"/>
          <p:cNvSpPr/>
          <p:nvPr/>
        </p:nvSpPr>
        <p:spPr>
          <a:xfrm>
            <a:off x="758952" y="3401568"/>
            <a:ext cx="1737360" cy="548640"/>
          </a:xfrm>
          <a:prstGeom prst="rect">
            <a:avLst/>
          </a:prstGeom>
          <a:noFill/>
          <a:ln/>
        </p:spPr>
        <p:txBody>
          <a:bodyPr wrap="square" lIns="0" tIns="0" rIns="0" bIns="0" rtlCol="0" anchor="ctr"/>
          <a:lstStyle/>
          <a:p>
            <a:pPr indent="0" marL="0">
              <a:buNone/>
            </a:pPr>
            <a:r>
              <a:rPr lang="en-US" sz="3000" b="1" dirty="0">
                <a:solidFill>
                  <a:srgbClr val="FF2D2D"/>
                </a:solidFill>
                <a:latin typeface="Arial" pitchFamily="34" charset="0"/>
                <a:ea typeface="Arial" pitchFamily="34" charset="-122"/>
                <a:cs typeface="Arial" pitchFamily="34" charset="-120"/>
              </a:rPr>
              <a:t>~20M</a:t>
            </a:r>
            <a:endParaRPr lang="en-US" sz="3000" dirty="0"/>
          </a:p>
        </p:txBody>
      </p:sp>
      <p:sp>
        <p:nvSpPr>
          <p:cNvPr id="9" name="Text 7"/>
          <p:cNvSpPr/>
          <p:nvPr/>
        </p:nvSpPr>
        <p:spPr>
          <a:xfrm>
            <a:off x="758952" y="3950208"/>
            <a:ext cx="1737360" cy="640080"/>
          </a:xfrm>
          <a:prstGeom prst="rect">
            <a:avLst/>
          </a:prstGeom>
          <a:noFill/>
          <a:ln/>
        </p:spPr>
        <p:txBody>
          <a:bodyPr wrap="square" lIns="0" tIns="0" rIns="0" bIns="0" rtlCol="0" anchor="ctr"/>
          <a:lstStyle/>
          <a:p>
            <a:pPr indent="0" marL="0">
              <a:lnSpc>
                <a:spcPct val="105000"/>
              </a:lnSpc>
              <a:buNone/>
            </a:pPr>
            <a:r>
              <a:rPr lang="en-US" sz="1150" dirty="0">
                <a:solidFill>
                  <a:srgbClr val="A6A6AE"/>
                </a:solidFill>
                <a:latin typeface="Arial" pitchFamily="34" charset="0"/>
                <a:ea typeface="Arial" pitchFamily="34" charset="-122"/>
                <a:cs typeface="Arial" pitchFamily="34" charset="-120"/>
              </a:rPr>
              <a:t>Character.AI monthly active users</a:t>
            </a:r>
            <a:endParaRPr lang="en-US" sz="1150" dirty="0"/>
          </a:p>
        </p:txBody>
      </p:sp>
      <p:sp>
        <p:nvSpPr>
          <p:cNvPr id="10" name="Shape 8"/>
          <p:cNvSpPr/>
          <p:nvPr/>
        </p:nvSpPr>
        <p:spPr>
          <a:xfrm>
            <a:off x="2807208" y="3246120"/>
            <a:ext cx="2057400" cy="1417320"/>
          </a:xfrm>
          <a:prstGeom prst="roundRect">
            <a:avLst>
              <a:gd name="adj" fmla="val 3871"/>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1" name="Text 9"/>
          <p:cNvSpPr/>
          <p:nvPr/>
        </p:nvSpPr>
        <p:spPr>
          <a:xfrm>
            <a:off x="2971800" y="3401568"/>
            <a:ext cx="1737360" cy="548640"/>
          </a:xfrm>
          <a:prstGeom prst="rect">
            <a:avLst/>
          </a:prstGeom>
          <a:noFill/>
          <a:ln/>
        </p:spPr>
        <p:txBody>
          <a:bodyPr wrap="square" lIns="0" tIns="0" rIns="0" bIns="0" rtlCol="0" anchor="ctr"/>
          <a:lstStyle/>
          <a:p>
            <a:pPr indent="0" marL="0">
              <a:buNone/>
            </a:pPr>
            <a:r>
              <a:rPr lang="en-US" sz="3000" b="1" dirty="0">
                <a:solidFill>
                  <a:srgbClr val="FF2D2D"/>
                </a:solidFill>
                <a:latin typeface="Arial" pitchFamily="34" charset="0"/>
                <a:ea typeface="Arial" pitchFamily="34" charset="-122"/>
                <a:cs typeface="Arial" pitchFamily="34" charset="-120"/>
              </a:rPr>
              <a:t>40M+</a:t>
            </a:r>
            <a:endParaRPr lang="en-US" sz="3000" dirty="0"/>
          </a:p>
        </p:txBody>
      </p:sp>
      <p:sp>
        <p:nvSpPr>
          <p:cNvPr id="12" name="Text 10"/>
          <p:cNvSpPr/>
          <p:nvPr/>
        </p:nvSpPr>
        <p:spPr>
          <a:xfrm>
            <a:off x="2971800" y="3950208"/>
            <a:ext cx="1737360" cy="640080"/>
          </a:xfrm>
          <a:prstGeom prst="rect">
            <a:avLst/>
          </a:prstGeom>
          <a:noFill/>
          <a:ln/>
        </p:spPr>
        <p:txBody>
          <a:bodyPr wrap="square" lIns="0" tIns="0" rIns="0" bIns="0" rtlCol="0" anchor="ctr"/>
          <a:lstStyle/>
          <a:p>
            <a:pPr indent="0" marL="0">
              <a:lnSpc>
                <a:spcPct val="105000"/>
              </a:lnSpc>
              <a:buNone/>
            </a:pPr>
            <a:r>
              <a:rPr lang="en-US" sz="1150" dirty="0">
                <a:solidFill>
                  <a:srgbClr val="A6A6AE"/>
                </a:solidFill>
                <a:latin typeface="Arial" pitchFamily="34" charset="0"/>
                <a:ea typeface="Arial" pitchFamily="34" charset="-122"/>
                <a:cs typeface="Arial" pitchFamily="34" charset="-120"/>
              </a:rPr>
              <a:t>Replika registered users</a:t>
            </a:r>
            <a:endParaRPr lang="en-US" sz="1150" dirty="0"/>
          </a:p>
        </p:txBody>
      </p:sp>
      <p:sp>
        <p:nvSpPr>
          <p:cNvPr id="13" name="Shape 11"/>
          <p:cNvSpPr/>
          <p:nvPr/>
        </p:nvSpPr>
        <p:spPr>
          <a:xfrm>
            <a:off x="5020056" y="3246120"/>
            <a:ext cx="2057400" cy="1417320"/>
          </a:xfrm>
          <a:prstGeom prst="roundRect">
            <a:avLst>
              <a:gd name="adj" fmla="val 3871"/>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4" name="Text 12"/>
          <p:cNvSpPr/>
          <p:nvPr/>
        </p:nvSpPr>
        <p:spPr>
          <a:xfrm>
            <a:off x="5184648" y="3401568"/>
            <a:ext cx="1737360" cy="548640"/>
          </a:xfrm>
          <a:prstGeom prst="rect">
            <a:avLst/>
          </a:prstGeom>
          <a:noFill/>
          <a:ln/>
        </p:spPr>
        <p:txBody>
          <a:bodyPr wrap="square" lIns="0" tIns="0" rIns="0" bIns="0" rtlCol="0" anchor="ctr"/>
          <a:lstStyle/>
          <a:p>
            <a:pPr indent="0" marL="0">
              <a:buNone/>
            </a:pPr>
            <a:r>
              <a:rPr lang="en-US" sz="3000" b="1" dirty="0">
                <a:solidFill>
                  <a:srgbClr val="FF2D2D"/>
                </a:solidFill>
                <a:latin typeface="Arial" pitchFamily="34" charset="0"/>
                <a:ea typeface="Arial" pitchFamily="34" charset="-122"/>
                <a:cs typeface="Arial" pitchFamily="34" charset="-120"/>
              </a:rPr>
              <a:t>250M+</a:t>
            </a:r>
            <a:endParaRPr lang="en-US" sz="3000" dirty="0"/>
          </a:p>
        </p:txBody>
      </p:sp>
      <p:sp>
        <p:nvSpPr>
          <p:cNvPr id="15" name="Text 13"/>
          <p:cNvSpPr/>
          <p:nvPr/>
        </p:nvSpPr>
        <p:spPr>
          <a:xfrm>
            <a:off x="5184648" y="3950208"/>
            <a:ext cx="1737360" cy="640080"/>
          </a:xfrm>
          <a:prstGeom prst="rect">
            <a:avLst/>
          </a:prstGeom>
          <a:noFill/>
          <a:ln/>
        </p:spPr>
        <p:txBody>
          <a:bodyPr wrap="square" lIns="0" tIns="0" rIns="0" bIns="0" rtlCol="0" anchor="ctr"/>
          <a:lstStyle/>
          <a:p>
            <a:pPr indent="0" marL="0">
              <a:lnSpc>
                <a:spcPct val="105000"/>
              </a:lnSpc>
              <a:buNone/>
            </a:pPr>
            <a:r>
              <a:rPr lang="en-US" sz="1150" dirty="0">
                <a:solidFill>
                  <a:srgbClr val="A6A6AE"/>
                </a:solidFill>
                <a:latin typeface="Arial" pitchFamily="34" charset="0"/>
                <a:ea typeface="Arial" pitchFamily="34" charset="-122"/>
                <a:cs typeface="Arial" pitchFamily="34" charset="-120"/>
              </a:rPr>
              <a:t>people already use AI companions</a:t>
            </a:r>
            <a:endParaRPr lang="en-US" sz="1150" dirty="0"/>
          </a:p>
        </p:txBody>
      </p:sp>
      <p:sp>
        <p:nvSpPr>
          <p:cNvPr id="16" name="Shape 14"/>
          <p:cNvSpPr/>
          <p:nvPr/>
        </p:nvSpPr>
        <p:spPr>
          <a:xfrm>
            <a:off x="7406640" y="1691640"/>
            <a:ext cx="4206240" cy="2971800"/>
          </a:xfrm>
          <a:prstGeom prst="roundRect">
            <a:avLst>
              <a:gd name="adj" fmla="val 184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7" name="Text 15"/>
          <p:cNvSpPr/>
          <p:nvPr/>
        </p:nvSpPr>
        <p:spPr>
          <a:xfrm>
            <a:off x="7635240" y="1920240"/>
            <a:ext cx="3749040" cy="274320"/>
          </a:xfrm>
          <a:prstGeom prst="rect">
            <a:avLst/>
          </a:prstGeom>
          <a:noFill/>
          <a:ln/>
        </p:spPr>
        <p:txBody>
          <a:bodyPr wrap="square" lIns="0" tIns="0" rIns="0" bIns="0" rtlCol="0" anchor="ctr"/>
          <a:lstStyle/>
          <a:p>
            <a:pPr indent="0" marL="0">
              <a:buNone/>
            </a:pPr>
            <a:r>
              <a:rPr lang="en-US" sz="1200" b="1" spc="200" kern="0" dirty="0">
                <a:solidFill>
                  <a:srgbClr val="FF2D2D"/>
                </a:solidFill>
                <a:latin typeface="Courier New" pitchFamily="34" charset="0"/>
                <a:ea typeface="Courier New" pitchFamily="34" charset="-122"/>
                <a:cs typeface="Courier New" pitchFamily="34" charset="-120"/>
              </a:rPr>
              <a:t>MEMORY SILOS</a:t>
            </a:r>
            <a:endParaRPr lang="en-US" sz="1200" dirty="0"/>
          </a:p>
        </p:txBody>
      </p:sp>
      <p:sp>
        <p:nvSpPr>
          <p:cNvPr id="18" name="Text 16"/>
          <p:cNvSpPr/>
          <p:nvPr/>
        </p:nvSpPr>
        <p:spPr>
          <a:xfrm>
            <a:off x="7635240" y="2286000"/>
            <a:ext cx="3794760" cy="21945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50" dirty="0">
                <a:solidFill>
                  <a:srgbClr val="FFFFFF"/>
                </a:solidFill>
                <a:latin typeface="Arial" pitchFamily="34" charset="0"/>
                <a:ea typeface="Arial" pitchFamily="34" charset="-122"/>
                <a:cs typeface="Arial" pitchFamily="34" charset="-120"/>
              </a:rPr>
              <a:t>Your chats train their model — not your character.</a:t>
            </a:r>
            <a:endParaRPr lang="en-US" sz="1450" dirty="0"/>
          </a:p>
          <a:p>
            <a:pPr marL="342900" indent="-342900">
              <a:lnSpc>
                <a:spcPct val="115000"/>
              </a:lnSpc>
              <a:spcAft>
                <a:spcPts val="1000"/>
              </a:spcAft>
              <a:buSzPct val="100000"/>
              <a:buChar char="•"/>
            </a:pPr>
            <a:r>
              <a:rPr lang="en-US" sz="1450" dirty="0">
                <a:solidFill>
                  <a:srgbClr val="FFFFFF"/>
                </a:solidFill>
                <a:latin typeface="Arial" pitchFamily="34" charset="0"/>
                <a:ea typeface="Arial" pitchFamily="34" charset="-122"/>
                <a:cs typeface="Arial" pitchFamily="34" charset="-120"/>
              </a:rPr>
              <a:t>No export. No portability. No ownership.</a:t>
            </a:r>
            <a:endParaRPr lang="en-US" sz="1450" dirty="0"/>
          </a:p>
          <a:p>
            <a:pPr marL="342900" indent="-342900">
              <a:lnSpc>
                <a:spcPct val="115000"/>
              </a:lnSpc>
              <a:spcAft>
                <a:spcPts val="1000"/>
              </a:spcAft>
              <a:buSzPct val="100000"/>
              <a:buChar char="•"/>
            </a:pPr>
            <a:r>
              <a:rPr lang="en-US" sz="1450" dirty="0">
                <a:solidFill>
                  <a:srgbClr val="FFFFFF"/>
                </a:solidFill>
                <a:latin typeface="Arial" pitchFamily="34" charset="0"/>
                <a:ea typeface="Arial" pitchFamily="34" charset="-122"/>
                <a:cs typeface="Arial" pitchFamily="34" charset="-120"/>
              </a:rPr>
              <a:t>2025: Character.AI privacy-policy changes triggered public user backlash.</a:t>
            </a:r>
            <a:endParaRPr lang="en-US" sz="1450" dirty="0"/>
          </a:p>
        </p:txBody>
      </p:sp>
      <p:sp>
        <p:nvSpPr>
          <p:cNvPr id="19" name="Text 17"/>
          <p:cNvSpPr/>
          <p:nvPr/>
        </p:nvSpPr>
        <p:spPr>
          <a:xfrm>
            <a:off x="7406640" y="4800600"/>
            <a:ext cx="4206240" cy="274320"/>
          </a:xfrm>
          <a:prstGeom prst="rect">
            <a:avLst/>
          </a:prstGeom>
          <a:noFill/>
          <a:ln/>
        </p:spPr>
        <p:txBody>
          <a:bodyPr wrap="square" lIns="0" tIns="0" rIns="0" bIns="0" rtlCol="0" anchor="ctr"/>
          <a:lstStyle/>
          <a:p>
            <a:pPr indent="0" marL="0">
              <a:buNone/>
            </a:pPr>
            <a:r>
              <a:rPr lang="en-US" sz="850" dirty="0">
                <a:solidFill>
                  <a:srgbClr val="6C6C75"/>
                </a:solidFill>
                <a:latin typeface="Courier New" pitchFamily="34" charset="0"/>
                <a:ea typeface="Courier New" pitchFamily="34" charset="-122"/>
                <a:cs typeface="Courier New" pitchFamily="34" charset="-120"/>
              </a:rPr>
              <a:t>Sources: Grand View Research; press reports, 2025–26.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02  /  WHY NOW</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Two waves are colliding.</a:t>
            </a:r>
            <a:endParaRPr lang="en-US" sz="3800" dirty="0"/>
          </a:p>
        </p:txBody>
      </p:sp>
      <p:sp>
        <p:nvSpPr>
          <p:cNvPr id="6" name="Shape 4"/>
          <p:cNvSpPr/>
          <p:nvPr/>
        </p:nvSpPr>
        <p:spPr>
          <a:xfrm>
            <a:off x="594360" y="1783080"/>
            <a:ext cx="5349240" cy="3200400"/>
          </a:xfrm>
          <a:prstGeom prst="roundRect">
            <a:avLst>
              <a:gd name="adj" fmla="val 171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868680" y="1993392"/>
            <a:ext cx="4572000" cy="274320"/>
          </a:xfrm>
          <a:prstGeom prst="rect">
            <a:avLst/>
          </a:prstGeom>
          <a:noFill/>
          <a:ln/>
        </p:spPr>
        <p:txBody>
          <a:bodyPr wrap="square" lIns="0" tIns="0" rIns="0" bIns="0" rtlCol="0" anchor="ctr"/>
          <a:lstStyle/>
          <a:p>
            <a:pPr indent="0" marL="0">
              <a:buNone/>
            </a:pPr>
            <a:r>
              <a:rPr lang="en-US" sz="1200" b="1" spc="200" kern="0" dirty="0">
                <a:solidFill>
                  <a:srgbClr val="FF2D2D"/>
                </a:solidFill>
                <a:latin typeface="Courier New" pitchFamily="34" charset="0"/>
                <a:ea typeface="Courier New" pitchFamily="34" charset="-122"/>
                <a:cs typeface="Courier New" pitchFamily="34" charset="-120"/>
              </a:rPr>
              <a:t>WAVE 1</a:t>
            </a:r>
            <a:endParaRPr lang="en-US" sz="1200" dirty="0"/>
          </a:p>
        </p:txBody>
      </p:sp>
      <p:sp>
        <p:nvSpPr>
          <p:cNvPr id="8" name="Text 6"/>
          <p:cNvSpPr/>
          <p:nvPr/>
        </p:nvSpPr>
        <p:spPr>
          <a:xfrm>
            <a:off x="868680" y="2286000"/>
            <a:ext cx="475488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AI companions exploded</a:t>
            </a:r>
            <a:endParaRPr lang="en-US" sz="2100" dirty="0"/>
          </a:p>
        </p:txBody>
      </p:sp>
      <p:sp>
        <p:nvSpPr>
          <p:cNvPr id="9" name="Text 7"/>
          <p:cNvSpPr/>
          <p:nvPr/>
        </p:nvSpPr>
        <p:spPr>
          <a:xfrm>
            <a:off x="868680" y="2880360"/>
            <a:ext cx="4800600" cy="192024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$28.2B (2024) → $140.8B (2030) market</a:t>
            </a:r>
            <a:endParaRPr lang="en-US" sz="1450" dirty="0"/>
          </a:p>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30.8% CAGR — one of the fastest in consumer AI</a:t>
            </a:r>
            <a:endParaRPr lang="en-US" sz="1450" dirty="0"/>
          </a:p>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220M+ app downloads, +88% YoY</a:t>
            </a:r>
            <a:endParaRPr lang="en-US" sz="1450" dirty="0"/>
          </a:p>
        </p:txBody>
      </p:sp>
      <p:sp>
        <p:nvSpPr>
          <p:cNvPr id="10" name="Shape 8"/>
          <p:cNvSpPr/>
          <p:nvPr/>
        </p:nvSpPr>
        <p:spPr>
          <a:xfrm>
            <a:off x="6263640" y="1783080"/>
            <a:ext cx="5349240" cy="3200400"/>
          </a:xfrm>
          <a:prstGeom prst="roundRect">
            <a:avLst>
              <a:gd name="adj" fmla="val 171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1" name="Text 9"/>
          <p:cNvSpPr/>
          <p:nvPr/>
        </p:nvSpPr>
        <p:spPr>
          <a:xfrm>
            <a:off x="6537960" y="1993392"/>
            <a:ext cx="4572000" cy="274320"/>
          </a:xfrm>
          <a:prstGeom prst="rect">
            <a:avLst/>
          </a:prstGeom>
          <a:noFill/>
          <a:ln/>
        </p:spPr>
        <p:txBody>
          <a:bodyPr wrap="square" lIns="0" tIns="0" rIns="0" bIns="0" rtlCol="0" anchor="ctr"/>
          <a:lstStyle/>
          <a:p>
            <a:pPr indent="0" marL="0">
              <a:buNone/>
            </a:pPr>
            <a:r>
              <a:rPr lang="en-US" sz="1200" b="1" spc="200" kern="0" dirty="0">
                <a:solidFill>
                  <a:srgbClr val="FF2D2D"/>
                </a:solidFill>
                <a:latin typeface="Courier New" pitchFamily="34" charset="0"/>
                <a:ea typeface="Courier New" pitchFamily="34" charset="-122"/>
                <a:cs typeface="Courier New" pitchFamily="34" charset="-120"/>
              </a:rPr>
              <a:t>WAVE 2</a:t>
            </a:r>
            <a:endParaRPr lang="en-US" sz="1200" dirty="0"/>
          </a:p>
        </p:txBody>
      </p:sp>
      <p:sp>
        <p:nvSpPr>
          <p:cNvPr id="12" name="Text 10"/>
          <p:cNvSpPr/>
          <p:nvPr/>
        </p:nvSpPr>
        <p:spPr>
          <a:xfrm>
            <a:off x="6537960" y="2286000"/>
            <a:ext cx="475488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Ownership rails arrived</a:t>
            </a:r>
            <a:endParaRPr lang="en-US" sz="2100" dirty="0"/>
          </a:p>
        </p:txBody>
      </p:sp>
      <p:sp>
        <p:nvSpPr>
          <p:cNvPr id="13" name="Text 11"/>
          <p:cNvSpPr/>
          <p:nvPr/>
        </p:nvSpPr>
        <p:spPr>
          <a:xfrm>
            <a:off x="6537960" y="2880360"/>
            <a:ext cx="4800600" cy="192024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NIST AI Agent Standards Initiative (2026)</a:t>
            </a:r>
            <a:endParaRPr lang="en-US" sz="1450" dirty="0"/>
          </a:p>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W3C DID / Verifiable Credentials; MCP-I → DIF</a:t>
            </a:r>
            <a:endParaRPr lang="en-US" sz="1450" dirty="0"/>
          </a:p>
          <a:p>
            <a:pPr marL="342900" indent="-342900">
              <a:lnSpc>
                <a:spcPct val="115000"/>
              </a:lnSpc>
              <a:spcAft>
                <a:spcPts val="900"/>
              </a:spcAft>
              <a:buSzPct val="100000"/>
              <a:buChar char="•"/>
            </a:pPr>
            <a:r>
              <a:rPr lang="en-US" sz="1450" dirty="0">
                <a:solidFill>
                  <a:srgbClr val="A6A6AE"/>
                </a:solidFill>
                <a:latin typeface="Arial" pitchFamily="34" charset="0"/>
                <a:ea typeface="Arial" pitchFamily="34" charset="-122"/>
                <a:cs typeface="Arial" pitchFamily="34" charset="-120"/>
              </a:rPr>
              <a:t>Portable agent identity + memory is now a real category</a:t>
            </a:r>
            <a:endParaRPr lang="en-US" sz="1450" dirty="0"/>
          </a:p>
        </p:txBody>
      </p:sp>
      <p:sp>
        <p:nvSpPr>
          <p:cNvPr id="14" name="Text 12"/>
          <p:cNvSpPr/>
          <p:nvPr/>
        </p:nvSpPr>
        <p:spPr>
          <a:xfrm>
            <a:off x="594360" y="5257800"/>
            <a:ext cx="109728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Nobody owns the consumer character layer yet.  </a:t>
            </a:r>
            <a:pPr algn="ctr" indent="0" marL="0">
              <a:buNone/>
            </a:pPr>
            <a:r>
              <a:rPr lang="en-US" sz="1900" b="1" dirty="0">
                <a:solidFill>
                  <a:srgbClr val="FF2D2D"/>
                </a:solidFill>
                <a:latin typeface="Arial" pitchFamily="34" charset="0"/>
                <a:ea typeface="Arial" pitchFamily="34" charset="-122"/>
                <a:cs typeface="Arial" pitchFamily="34" charset="-120"/>
              </a:rPr>
              <a:t>ZEALWISH is building it.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03  /  WHAT IT IS</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A wallet-owned AI character platform.</a:t>
            </a:r>
            <a:endParaRPr lang="en-US" sz="3800" dirty="0"/>
          </a:p>
        </p:txBody>
      </p:sp>
      <p:sp>
        <p:nvSpPr>
          <p:cNvPr id="6" name="Shape 4"/>
          <p:cNvSpPr/>
          <p:nvPr/>
        </p:nvSpPr>
        <p:spPr>
          <a:xfrm>
            <a:off x="594360"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822960" y="201168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01</a:t>
            </a:r>
            <a:endParaRPr lang="en-US" sz="2200" dirty="0"/>
          </a:p>
        </p:txBody>
      </p:sp>
      <p:sp>
        <p:nvSpPr>
          <p:cNvPr id="8" name="Text 6"/>
          <p:cNvSpPr/>
          <p:nvPr/>
        </p:nvSpPr>
        <p:spPr>
          <a:xfrm>
            <a:off x="1463040" y="2075688"/>
            <a:ext cx="2468880" cy="365760"/>
          </a:xfrm>
          <a:prstGeom prst="rect">
            <a:avLst/>
          </a:prstGeom>
          <a:noFill/>
          <a:ln/>
        </p:spPr>
        <p:txBody>
          <a:bodyPr wrap="square" lIns="0" tIns="0" rIns="0" bIns="0" rtlCol="0" anchor="ctr"/>
          <a:lstStyle/>
          <a:p>
            <a:pPr indent="0" marL="0">
              <a:buNone/>
            </a:pPr>
            <a:r>
              <a:rPr lang="en-US" sz="1300" b="1" spc="200" kern="0" dirty="0">
                <a:solidFill>
                  <a:srgbClr val="FF2D2D"/>
                </a:solidFill>
                <a:latin typeface="Courier New" pitchFamily="34" charset="0"/>
                <a:ea typeface="Courier New" pitchFamily="34" charset="-122"/>
                <a:cs typeface="Courier New" pitchFamily="34" charset="-120"/>
              </a:rPr>
              <a:t>CREATE</a:t>
            </a:r>
            <a:endParaRPr lang="en-US" sz="1300" dirty="0"/>
          </a:p>
        </p:txBody>
      </p:sp>
      <p:sp>
        <p:nvSpPr>
          <p:cNvPr id="9" name="Text 7"/>
          <p:cNvSpPr/>
          <p:nvPr/>
        </p:nvSpPr>
        <p:spPr>
          <a:xfrm>
            <a:off x="822960" y="2606040"/>
            <a:ext cx="310896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Your character</a:t>
            </a:r>
            <a:endParaRPr lang="en-US" sz="1900" dirty="0"/>
          </a:p>
        </p:txBody>
      </p:sp>
      <p:sp>
        <p:nvSpPr>
          <p:cNvPr id="10" name="Text 8"/>
          <p:cNvSpPr/>
          <p:nvPr/>
        </p:nvSpPr>
        <p:spPr>
          <a:xfrm>
            <a:off x="822960" y="3108960"/>
            <a:ext cx="3063240" cy="1280160"/>
          </a:xfrm>
          <a:prstGeom prst="rect">
            <a:avLst/>
          </a:prstGeom>
          <a:noFill/>
          <a:ln/>
        </p:spPr>
        <p:txBody>
          <a:bodyPr wrap="square" lIns="0" tIns="0" rIns="0" bIns="0" rtlCol="0" anchor="ctr"/>
          <a:lstStyle/>
          <a:p>
            <a:pPr indent="0" marL="0">
              <a:lnSpc>
                <a:spcPct val="115000"/>
              </a:lnSpc>
              <a:buNone/>
            </a:pPr>
            <a:r>
              <a:rPr lang="en-US" sz="1350" dirty="0">
                <a:solidFill>
                  <a:srgbClr val="A6A6AE"/>
                </a:solidFill>
                <a:latin typeface="Arial" pitchFamily="34" charset="0"/>
                <a:ea typeface="Arial" pitchFamily="34" charset="-122"/>
                <a:cs typeface="Arial" pitchFamily="34" charset="-120"/>
              </a:rPr>
              <a:t>Design a being with a visual identity, personality, voice, and origin. Start from a prompt; shape it through interaction.</a:t>
            </a:r>
            <a:endParaRPr lang="en-US" sz="1350" dirty="0"/>
          </a:p>
        </p:txBody>
      </p:sp>
      <p:sp>
        <p:nvSpPr>
          <p:cNvPr id="11" name="Shape 9"/>
          <p:cNvSpPr/>
          <p:nvPr/>
        </p:nvSpPr>
        <p:spPr>
          <a:xfrm>
            <a:off x="4288536"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2" name="Text 10"/>
          <p:cNvSpPr/>
          <p:nvPr/>
        </p:nvSpPr>
        <p:spPr>
          <a:xfrm>
            <a:off x="4517136" y="201168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02</a:t>
            </a:r>
            <a:endParaRPr lang="en-US" sz="2200" dirty="0"/>
          </a:p>
        </p:txBody>
      </p:sp>
      <p:sp>
        <p:nvSpPr>
          <p:cNvPr id="13" name="Text 11"/>
          <p:cNvSpPr/>
          <p:nvPr/>
        </p:nvSpPr>
        <p:spPr>
          <a:xfrm>
            <a:off x="5157216" y="2075688"/>
            <a:ext cx="2468880" cy="365760"/>
          </a:xfrm>
          <a:prstGeom prst="rect">
            <a:avLst/>
          </a:prstGeom>
          <a:noFill/>
          <a:ln/>
        </p:spPr>
        <p:txBody>
          <a:bodyPr wrap="square" lIns="0" tIns="0" rIns="0" bIns="0" rtlCol="0" anchor="ctr"/>
          <a:lstStyle/>
          <a:p>
            <a:pPr indent="0" marL="0">
              <a:buNone/>
            </a:pPr>
            <a:r>
              <a:rPr lang="en-US" sz="1300" b="1" spc="200" kern="0" dirty="0">
                <a:solidFill>
                  <a:srgbClr val="FF2D2D"/>
                </a:solidFill>
                <a:latin typeface="Courier New" pitchFamily="34" charset="0"/>
                <a:ea typeface="Courier New" pitchFamily="34" charset="-122"/>
                <a:cs typeface="Courier New" pitchFamily="34" charset="-120"/>
              </a:rPr>
              <a:t>GROW</a:t>
            </a:r>
            <a:endParaRPr lang="en-US" sz="1300" dirty="0"/>
          </a:p>
        </p:txBody>
      </p:sp>
      <p:sp>
        <p:nvSpPr>
          <p:cNvPr id="14" name="Text 12"/>
          <p:cNvSpPr/>
          <p:nvPr/>
        </p:nvSpPr>
        <p:spPr>
          <a:xfrm>
            <a:off x="4517136" y="2606040"/>
            <a:ext cx="310896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Persistent memory</a:t>
            </a:r>
            <a:endParaRPr lang="en-US" sz="1900" dirty="0"/>
          </a:p>
        </p:txBody>
      </p:sp>
      <p:sp>
        <p:nvSpPr>
          <p:cNvPr id="15" name="Text 13"/>
          <p:cNvSpPr/>
          <p:nvPr/>
        </p:nvSpPr>
        <p:spPr>
          <a:xfrm>
            <a:off x="4517136" y="3108960"/>
            <a:ext cx="3063240" cy="1280160"/>
          </a:xfrm>
          <a:prstGeom prst="rect">
            <a:avLst/>
          </a:prstGeom>
          <a:noFill/>
          <a:ln/>
        </p:spPr>
        <p:txBody>
          <a:bodyPr wrap="square" lIns="0" tIns="0" rIns="0" bIns="0" rtlCol="0" anchor="ctr"/>
          <a:lstStyle/>
          <a:p>
            <a:pPr indent="0" marL="0">
              <a:lnSpc>
                <a:spcPct val="115000"/>
              </a:lnSpc>
              <a:buNone/>
            </a:pPr>
            <a:r>
              <a:rPr lang="en-US" sz="1350" dirty="0">
                <a:solidFill>
                  <a:srgbClr val="A6A6AE"/>
                </a:solidFill>
                <a:latin typeface="Arial" pitchFamily="34" charset="0"/>
                <a:ea typeface="Arial" pitchFamily="34" charset="-122"/>
                <a:cs typeface="Arial" pitchFamily="34" charset="-120"/>
              </a:rPr>
              <a:t>Conversations, moments, and emotional context become a relationship timeline — not disposable chat history.</a:t>
            </a:r>
            <a:endParaRPr lang="en-US" sz="1350" dirty="0"/>
          </a:p>
        </p:txBody>
      </p:sp>
      <p:sp>
        <p:nvSpPr>
          <p:cNvPr id="16" name="Shape 14"/>
          <p:cNvSpPr/>
          <p:nvPr/>
        </p:nvSpPr>
        <p:spPr>
          <a:xfrm>
            <a:off x="7982712"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7" name="Text 15"/>
          <p:cNvSpPr/>
          <p:nvPr/>
        </p:nvSpPr>
        <p:spPr>
          <a:xfrm>
            <a:off x="8211312" y="201168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03</a:t>
            </a:r>
            <a:endParaRPr lang="en-US" sz="2200" dirty="0"/>
          </a:p>
        </p:txBody>
      </p:sp>
      <p:sp>
        <p:nvSpPr>
          <p:cNvPr id="18" name="Text 16"/>
          <p:cNvSpPr/>
          <p:nvPr/>
        </p:nvSpPr>
        <p:spPr>
          <a:xfrm>
            <a:off x="8851392" y="2075688"/>
            <a:ext cx="2468880" cy="365760"/>
          </a:xfrm>
          <a:prstGeom prst="rect">
            <a:avLst/>
          </a:prstGeom>
          <a:noFill/>
          <a:ln/>
        </p:spPr>
        <p:txBody>
          <a:bodyPr wrap="square" lIns="0" tIns="0" rIns="0" bIns="0" rtlCol="0" anchor="ctr"/>
          <a:lstStyle/>
          <a:p>
            <a:pPr indent="0" marL="0">
              <a:buNone/>
            </a:pPr>
            <a:r>
              <a:rPr lang="en-US" sz="1300" b="1" spc="200" kern="0" dirty="0">
                <a:solidFill>
                  <a:srgbClr val="FF2D2D"/>
                </a:solidFill>
                <a:latin typeface="Courier New" pitchFamily="34" charset="0"/>
                <a:ea typeface="Courier New" pitchFamily="34" charset="-122"/>
                <a:cs typeface="Courier New" pitchFamily="34" charset="-120"/>
              </a:rPr>
              <a:t>OWN</a:t>
            </a:r>
            <a:endParaRPr lang="en-US" sz="1300" dirty="0"/>
          </a:p>
        </p:txBody>
      </p:sp>
      <p:sp>
        <p:nvSpPr>
          <p:cNvPr id="19" name="Text 17"/>
          <p:cNvSpPr/>
          <p:nvPr/>
        </p:nvSpPr>
        <p:spPr>
          <a:xfrm>
            <a:off x="8211312" y="2606040"/>
            <a:ext cx="310896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Character passport</a:t>
            </a:r>
            <a:endParaRPr lang="en-US" sz="1900" dirty="0"/>
          </a:p>
        </p:txBody>
      </p:sp>
      <p:sp>
        <p:nvSpPr>
          <p:cNvPr id="20" name="Text 18"/>
          <p:cNvSpPr/>
          <p:nvPr/>
        </p:nvSpPr>
        <p:spPr>
          <a:xfrm>
            <a:off x="8211312" y="3108960"/>
            <a:ext cx="3063240" cy="1280160"/>
          </a:xfrm>
          <a:prstGeom prst="rect">
            <a:avLst/>
          </a:prstGeom>
          <a:noFill/>
          <a:ln/>
        </p:spPr>
        <p:txBody>
          <a:bodyPr wrap="square" lIns="0" tIns="0" rIns="0" bIns="0" rtlCol="0" anchor="ctr"/>
          <a:lstStyle/>
          <a:p>
            <a:pPr indent="0" marL="0">
              <a:lnSpc>
                <a:spcPct val="115000"/>
              </a:lnSpc>
              <a:buNone/>
            </a:pPr>
            <a:r>
              <a:rPr lang="en-US" sz="1350" dirty="0">
                <a:solidFill>
                  <a:srgbClr val="A6A6AE"/>
                </a:solidFill>
                <a:latin typeface="Arial" pitchFamily="34" charset="0"/>
                <a:ea typeface="Arial" pitchFamily="34" charset="-122"/>
                <a:cs typeface="Arial" pitchFamily="34" charset="-120"/>
              </a:rPr>
              <a:t>A wallet-linked passport anchors identity, provenance, and permissions — and travels across future worlds.</a:t>
            </a:r>
            <a:endParaRPr lang="en-US" sz="1350" dirty="0"/>
          </a:p>
        </p:txBody>
      </p:sp>
      <p:sp>
        <p:nvSpPr>
          <p:cNvPr id="21" name="Text 19"/>
          <p:cNvSpPr/>
          <p:nvPr/>
        </p:nvSpPr>
        <p:spPr>
          <a:xfrm>
            <a:off x="594360" y="4983480"/>
            <a:ext cx="10972800" cy="457200"/>
          </a:xfrm>
          <a:prstGeom prst="rect">
            <a:avLst/>
          </a:prstGeom>
          <a:noFill/>
          <a:ln/>
        </p:spPr>
        <p:txBody>
          <a:bodyPr wrap="square" lIns="0" tIns="0" rIns="0" bIns="0" rtlCol="0" anchor="ctr"/>
          <a:lstStyle/>
          <a:p>
            <a:pPr algn="ctr" indent="0" marL="0">
              <a:buNone/>
            </a:pPr>
            <a:r>
              <a:rPr lang="en-US" sz="2000" i="1" dirty="0">
                <a:solidFill>
                  <a:srgbClr val="FFFFFF"/>
                </a:solidFill>
                <a:latin typeface="Arial" pitchFamily="34" charset="0"/>
                <a:ea typeface="Arial" pitchFamily="34" charset="-122"/>
                <a:cs typeface="Arial" pitchFamily="34" charset="-120"/>
              </a:rPr>
              <a:t>“NFT is not the product. </a:t>
            </a:r>
            <a:pPr algn="ctr" indent="0" marL="0">
              <a:buNone/>
            </a:pPr>
            <a:r>
              <a:rPr lang="en-US" sz="2000" b="1" i="1" dirty="0">
                <a:solidFill>
                  <a:srgbClr val="FF2D2D"/>
                </a:solidFill>
                <a:latin typeface="Arial" pitchFamily="34" charset="0"/>
                <a:ea typeface="Arial" pitchFamily="34" charset="-122"/>
                <a:cs typeface="Arial" pitchFamily="34" charset="-120"/>
              </a:rPr>
              <a:t>Ownership</a:t>
            </a:r>
            <a:pPr algn="ctr" indent="0" marL="0">
              <a:buNone/>
            </a:pPr>
            <a:r>
              <a:rPr lang="en-US" sz="2000" i="1" dirty="0">
                <a:solidFill>
                  <a:srgbClr val="FFFFFF"/>
                </a:solidFill>
                <a:latin typeface="Arial" pitchFamily="34" charset="0"/>
                <a:ea typeface="Arial" pitchFamily="34" charset="-122"/>
                <a:cs typeface="Arial" pitchFamily="34" charset="-120"/>
              </a:rPr>
              <a:t> is the product.”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04  /  THE PRODUCT</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Live today: a working desktop + web app.</a:t>
            </a:r>
            <a:endParaRPr lang="en-US" sz="3800" dirty="0"/>
          </a:p>
        </p:txBody>
      </p:sp>
      <p:sp>
        <p:nvSpPr>
          <p:cNvPr id="6" name="Shape 4"/>
          <p:cNvSpPr/>
          <p:nvPr/>
        </p:nvSpPr>
        <p:spPr>
          <a:xfrm>
            <a:off x="594360" y="1828800"/>
            <a:ext cx="4160520" cy="2331720"/>
          </a:xfrm>
          <a:prstGeom prst="roundRect">
            <a:avLst>
              <a:gd name="adj" fmla="val 1569"/>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pic>
        <p:nvPicPr>
          <p:cNvPr id="7" name="Image 0" descr="/sessions/quirky-peaceful-hypatia/mnt/ZEALWISH/docs/images/create-oc.jpg">    </p:cNvPr>
          <p:cNvPicPr>
            <a:picLocks noChangeAspect="1"/>
          </p:cNvPicPr>
          <p:nvPr/>
        </p:nvPicPr>
        <p:blipFill>
          <a:blip r:embed="rId1"/>
          <a:srcRect l="0" r="0" t="0" b="0"/>
          <a:stretch/>
        </p:blipFill>
        <p:spPr>
          <a:xfrm>
            <a:off x="685800" y="1920240"/>
            <a:ext cx="3977640" cy="2148840"/>
          </a:xfrm>
          <a:prstGeom prst="rect">
            <a:avLst/>
          </a:prstGeom>
        </p:spPr>
      </p:pic>
      <p:sp>
        <p:nvSpPr>
          <p:cNvPr id="8" name="Text 5"/>
          <p:cNvSpPr/>
          <p:nvPr/>
        </p:nvSpPr>
        <p:spPr>
          <a:xfrm>
            <a:off x="594360" y="4206240"/>
            <a:ext cx="4160520" cy="274320"/>
          </a:xfrm>
          <a:prstGeom prst="rect">
            <a:avLst/>
          </a:prstGeom>
          <a:noFill/>
          <a:ln/>
        </p:spPr>
        <p:txBody>
          <a:bodyPr wrap="square" lIns="0" tIns="0" rIns="0" bIns="0" rtlCol="0" anchor="ctr"/>
          <a:lstStyle/>
          <a:p>
            <a:pPr algn="ctr" indent="0" marL="0">
              <a:buNone/>
            </a:pPr>
            <a:r>
              <a:rPr lang="en-US" sz="1000" dirty="0">
                <a:solidFill>
                  <a:srgbClr val="6C6C75"/>
                </a:solidFill>
                <a:latin typeface="Courier New" pitchFamily="34" charset="0"/>
                <a:ea typeface="Courier New" pitchFamily="34" charset="-122"/>
                <a:cs typeface="Courier New" pitchFamily="34" charset="-120"/>
              </a:rPr>
              <a:t>CREATE  CHARACTER</a:t>
            </a:r>
            <a:endParaRPr lang="en-US" sz="1000" dirty="0"/>
          </a:p>
        </p:txBody>
      </p:sp>
      <p:sp>
        <p:nvSpPr>
          <p:cNvPr id="9" name="Shape 6"/>
          <p:cNvSpPr/>
          <p:nvPr/>
        </p:nvSpPr>
        <p:spPr>
          <a:xfrm>
            <a:off x="4937760" y="1828800"/>
            <a:ext cx="4160520" cy="2331720"/>
          </a:xfrm>
          <a:prstGeom prst="roundRect">
            <a:avLst>
              <a:gd name="adj" fmla="val 1569"/>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pic>
        <p:nvPicPr>
          <p:cNvPr id="10" name="Image 1" descr="/sessions/quirky-peaceful-hypatia/mnt/ZEALWISH/docs/images/chat-interface.jpg">    </p:cNvPr>
          <p:cNvPicPr>
            <a:picLocks noChangeAspect="1"/>
          </p:cNvPicPr>
          <p:nvPr/>
        </p:nvPicPr>
        <p:blipFill>
          <a:blip r:embed="rId2"/>
          <a:srcRect l="0" r="0" t="0" b="0"/>
          <a:stretch/>
        </p:blipFill>
        <p:spPr>
          <a:xfrm>
            <a:off x="5029200" y="1920240"/>
            <a:ext cx="3977640" cy="2148840"/>
          </a:xfrm>
          <a:prstGeom prst="rect">
            <a:avLst/>
          </a:prstGeom>
        </p:spPr>
      </p:pic>
      <p:sp>
        <p:nvSpPr>
          <p:cNvPr id="11" name="Text 7"/>
          <p:cNvSpPr/>
          <p:nvPr/>
        </p:nvSpPr>
        <p:spPr>
          <a:xfrm>
            <a:off x="4937760" y="4206240"/>
            <a:ext cx="4160520" cy="274320"/>
          </a:xfrm>
          <a:prstGeom prst="rect">
            <a:avLst/>
          </a:prstGeom>
          <a:noFill/>
          <a:ln/>
        </p:spPr>
        <p:txBody>
          <a:bodyPr wrap="square" lIns="0" tIns="0" rIns="0" bIns="0" rtlCol="0" anchor="ctr"/>
          <a:lstStyle/>
          <a:p>
            <a:pPr algn="ctr" indent="0" marL="0">
              <a:buNone/>
            </a:pPr>
            <a:r>
              <a:rPr lang="en-US" sz="1000" dirty="0">
                <a:solidFill>
                  <a:srgbClr val="6C6C75"/>
                </a:solidFill>
                <a:latin typeface="Courier New" pitchFamily="34" charset="0"/>
                <a:ea typeface="Courier New" pitchFamily="34" charset="-122"/>
                <a:cs typeface="Courier New" pitchFamily="34" charset="-120"/>
              </a:rPr>
              <a:t>CHAT  +  MEMORY</a:t>
            </a:r>
            <a:endParaRPr lang="en-US" sz="1000" dirty="0"/>
          </a:p>
        </p:txBody>
      </p:sp>
      <p:sp>
        <p:nvSpPr>
          <p:cNvPr id="12" name="Shape 8"/>
          <p:cNvSpPr/>
          <p:nvPr/>
        </p:nvSpPr>
        <p:spPr>
          <a:xfrm>
            <a:off x="9418320" y="1828800"/>
            <a:ext cx="2194560" cy="3154680"/>
          </a:xfrm>
          <a:prstGeom prst="roundRect">
            <a:avLst>
              <a:gd name="adj" fmla="val 2500"/>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3" name="Text 9"/>
          <p:cNvSpPr/>
          <p:nvPr/>
        </p:nvSpPr>
        <p:spPr>
          <a:xfrm>
            <a:off x="9601200" y="2011680"/>
            <a:ext cx="1920240" cy="274320"/>
          </a:xfrm>
          <a:prstGeom prst="rect">
            <a:avLst/>
          </a:prstGeom>
          <a:noFill/>
          <a:ln/>
        </p:spPr>
        <p:txBody>
          <a:bodyPr wrap="square" lIns="0" tIns="0" rIns="0" bIns="0" rtlCol="0" anchor="ctr"/>
          <a:lstStyle/>
          <a:p>
            <a:pPr indent="0" marL="0">
              <a:buNone/>
            </a:pPr>
            <a:r>
              <a:rPr lang="en-US" sz="1100" b="1" spc="100" kern="0" dirty="0">
                <a:solidFill>
                  <a:srgbClr val="FF2D2D"/>
                </a:solidFill>
                <a:latin typeface="Courier New" pitchFamily="34" charset="0"/>
                <a:ea typeface="Courier New" pitchFamily="34" charset="-122"/>
                <a:cs typeface="Courier New" pitchFamily="34" charset="-120"/>
              </a:rPr>
              <a:t>WORKING NOW</a:t>
            </a:r>
            <a:endParaRPr lang="en-US" sz="1100" dirty="0"/>
          </a:p>
        </p:txBody>
      </p:sp>
      <p:sp>
        <p:nvSpPr>
          <p:cNvPr id="14" name="Text 10"/>
          <p:cNvSpPr/>
          <p:nvPr/>
        </p:nvSpPr>
        <p:spPr>
          <a:xfrm>
            <a:off x="9601200" y="2377440"/>
            <a:ext cx="1920240" cy="237744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Character creation</a:t>
            </a:r>
            <a:endParaRPr lang="en-US" sz="1300" dirty="0"/>
          </a:p>
          <a:p>
            <a:pPr marL="342900" indent="-342900">
              <a:lnSpc>
                <a:spcPct val="11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Real-time chat</a:t>
            </a:r>
            <a:endParaRPr lang="en-US" sz="1300" dirty="0"/>
          </a:p>
          <a:p>
            <a:pPr marL="342900" indent="-342900">
              <a:lnSpc>
                <a:spcPct val="11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Voice in + out (real-time ASR + TTS)</a:t>
            </a:r>
            <a:endParaRPr lang="en-US" sz="1300" dirty="0"/>
          </a:p>
          <a:p>
            <a:pPr marL="342900" indent="-342900">
              <a:lnSpc>
                <a:spcPct val="11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Persistent memory engine</a:t>
            </a:r>
            <a:endParaRPr lang="en-US" sz="1300" dirty="0"/>
          </a:p>
          <a:p>
            <a:pPr marL="342900" indent="-342900">
              <a:lnSpc>
                <a:spcPct val="11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OKX wallet connect</a:t>
            </a:r>
            <a:endParaRPr lang="en-US" sz="1300" dirty="0"/>
          </a:p>
        </p:txBody>
      </p:sp>
      <p:sp>
        <p:nvSpPr>
          <p:cNvPr id="15" name="Text 11"/>
          <p:cNvSpPr/>
          <p:nvPr/>
        </p:nvSpPr>
        <p:spPr>
          <a:xfrm>
            <a:off x="594360" y="5257800"/>
            <a:ext cx="10972800" cy="365760"/>
          </a:xfrm>
          <a:prstGeom prst="rect">
            <a:avLst/>
          </a:prstGeom>
          <a:noFill/>
          <a:ln/>
        </p:spPr>
        <p:txBody>
          <a:bodyPr wrap="square" lIns="0" tIns="0" rIns="0" bIns="0" rtlCol="0" anchor="ctr"/>
          <a:lstStyle/>
          <a:p>
            <a:pPr algn="ctr" indent="0" marL="0">
              <a:buNone/>
            </a:pPr>
            <a:r>
              <a:rPr lang="en-US" sz="1200" dirty="0">
                <a:solidFill>
                  <a:srgbClr val="A6A6AE"/>
                </a:solidFill>
                <a:latin typeface="Courier New" pitchFamily="34" charset="0"/>
                <a:ea typeface="Courier New" pitchFamily="34" charset="-122"/>
                <a:cs typeface="Courier New" pitchFamily="34" charset="-120"/>
              </a:rPr>
              <a:t>React + Electron  ·  local-first  ·  22 automated tests  ·  open source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05  /  THE MOAT</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Memory that's actually yours.</a:t>
            </a:r>
            <a:endParaRPr lang="en-US" sz="3800" dirty="0"/>
          </a:p>
        </p:txBody>
      </p:sp>
      <p:sp>
        <p:nvSpPr>
          <p:cNvPr id="6" name="Shape 4"/>
          <p:cNvSpPr/>
          <p:nvPr/>
        </p:nvSpPr>
        <p:spPr>
          <a:xfrm>
            <a:off x="594360" y="1783080"/>
            <a:ext cx="1920240" cy="868680"/>
          </a:xfrm>
          <a:prstGeom prst="roundRect">
            <a:avLst>
              <a:gd name="adj" fmla="val 631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731520" y="1901952"/>
            <a:ext cx="640080" cy="274320"/>
          </a:xfrm>
          <a:prstGeom prst="rect">
            <a:avLst/>
          </a:prstGeom>
          <a:noFill/>
          <a:ln/>
        </p:spPr>
        <p:txBody>
          <a:bodyPr wrap="square" lIns="0" tIns="0" rIns="0" bIns="0" rtlCol="0" anchor="ctr"/>
          <a:lstStyle/>
          <a:p>
            <a:pPr indent="0" marL="0">
              <a:buNone/>
            </a:pPr>
            <a:r>
              <a:rPr lang="en-US" sz="1200" b="1" dirty="0">
                <a:solidFill>
                  <a:srgbClr val="FF2D2D"/>
                </a:solidFill>
                <a:latin typeface="Courier New" pitchFamily="34" charset="0"/>
                <a:ea typeface="Courier New" pitchFamily="34" charset="-122"/>
                <a:cs typeface="Courier New" pitchFamily="34" charset="-120"/>
              </a:rPr>
              <a:t>01</a:t>
            </a:r>
            <a:endParaRPr lang="en-US" sz="1200" dirty="0"/>
          </a:p>
        </p:txBody>
      </p:sp>
      <p:sp>
        <p:nvSpPr>
          <p:cNvPr id="8" name="Text 6"/>
          <p:cNvSpPr/>
          <p:nvPr/>
        </p:nvSpPr>
        <p:spPr>
          <a:xfrm>
            <a:off x="731520" y="2194560"/>
            <a:ext cx="1645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Capture</a:t>
            </a:r>
            <a:endParaRPr lang="en-US" sz="1500" dirty="0"/>
          </a:p>
        </p:txBody>
      </p:sp>
      <p:sp>
        <p:nvSpPr>
          <p:cNvPr id="9" name="Text 7"/>
          <p:cNvSpPr/>
          <p:nvPr/>
        </p:nvSpPr>
        <p:spPr>
          <a:xfrm>
            <a:off x="2496312" y="1783080"/>
            <a:ext cx="292608" cy="86868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770632" y="1783080"/>
            <a:ext cx="1920240" cy="868680"/>
          </a:xfrm>
          <a:prstGeom prst="roundRect">
            <a:avLst>
              <a:gd name="adj" fmla="val 631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1" name="Text 9"/>
          <p:cNvSpPr/>
          <p:nvPr/>
        </p:nvSpPr>
        <p:spPr>
          <a:xfrm>
            <a:off x="2907792" y="1901952"/>
            <a:ext cx="640080" cy="274320"/>
          </a:xfrm>
          <a:prstGeom prst="rect">
            <a:avLst/>
          </a:prstGeom>
          <a:noFill/>
          <a:ln/>
        </p:spPr>
        <p:txBody>
          <a:bodyPr wrap="square" lIns="0" tIns="0" rIns="0" bIns="0" rtlCol="0" anchor="ctr"/>
          <a:lstStyle/>
          <a:p>
            <a:pPr indent="0" marL="0">
              <a:buNone/>
            </a:pPr>
            <a:r>
              <a:rPr lang="en-US" sz="1200" b="1" dirty="0">
                <a:solidFill>
                  <a:srgbClr val="FF2D2D"/>
                </a:solidFill>
                <a:latin typeface="Courier New" pitchFamily="34" charset="0"/>
                <a:ea typeface="Courier New" pitchFamily="34" charset="-122"/>
                <a:cs typeface="Courier New" pitchFamily="34" charset="-120"/>
              </a:rPr>
              <a:t>02</a:t>
            </a:r>
            <a:endParaRPr lang="en-US" sz="1200" dirty="0"/>
          </a:p>
        </p:txBody>
      </p:sp>
      <p:sp>
        <p:nvSpPr>
          <p:cNvPr id="12" name="Text 10"/>
          <p:cNvSpPr/>
          <p:nvPr/>
        </p:nvSpPr>
        <p:spPr>
          <a:xfrm>
            <a:off x="2907792" y="2194560"/>
            <a:ext cx="1645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Distill</a:t>
            </a:r>
            <a:endParaRPr lang="en-US" sz="1500" dirty="0"/>
          </a:p>
        </p:txBody>
      </p:sp>
      <p:sp>
        <p:nvSpPr>
          <p:cNvPr id="13" name="Text 11"/>
          <p:cNvSpPr/>
          <p:nvPr/>
        </p:nvSpPr>
        <p:spPr>
          <a:xfrm>
            <a:off x="4672584" y="1783080"/>
            <a:ext cx="292608" cy="86868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946904" y="1783080"/>
            <a:ext cx="1920240" cy="868680"/>
          </a:xfrm>
          <a:prstGeom prst="roundRect">
            <a:avLst>
              <a:gd name="adj" fmla="val 631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5" name="Text 13"/>
          <p:cNvSpPr/>
          <p:nvPr/>
        </p:nvSpPr>
        <p:spPr>
          <a:xfrm>
            <a:off x="5084064" y="1901952"/>
            <a:ext cx="640080" cy="274320"/>
          </a:xfrm>
          <a:prstGeom prst="rect">
            <a:avLst/>
          </a:prstGeom>
          <a:noFill/>
          <a:ln/>
        </p:spPr>
        <p:txBody>
          <a:bodyPr wrap="square" lIns="0" tIns="0" rIns="0" bIns="0" rtlCol="0" anchor="ctr"/>
          <a:lstStyle/>
          <a:p>
            <a:pPr indent="0" marL="0">
              <a:buNone/>
            </a:pPr>
            <a:r>
              <a:rPr lang="en-US" sz="1200" b="1" dirty="0">
                <a:solidFill>
                  <a:srgbClr val="FF2D2D"/>
                </a:solidFill>
                <a:latin typeface="Courier New" pitchFamily="34" charset="0"/>
                <a:ea typeface="Courier New" pitchFamily="34" charset="-122"/>
                <a:cs typeface="Courier New" pitchFamily="34" charset="-120"/>
              </a:rPr>
              <a:t>03</a:t>
            </a:r>
            <a:endParaRPr lang="en-US" sz="1200" dirty="0"/>
          </a:p>
        </p:txBody>
      </p:sp>
      <p:sp>
        <p:nvSpPr>
          <p:cNvPr id="16" name="Text 14"/>
          <p:cNvSpPr/>
          <p:nvPr/>
        </p:nvSpPr>
        <p:spPr>
          <a:xfrm>
            <a:off x="5084064" y="2194560"/>
            <a:ext cx="1645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Merge</a:t>
            </a:r>
            <a:endParaRPr lang="en-US" sz="1500" dirty="0"/>
          </a:p>
        </p:txBody>
      </p:sp>
      <p:sp>
        <p:nvSpPr>
          <p:cNvPr id="17" name="Text 15"/>
          <p:cNvSpPr/>
          <p:nvPr/>
        </p:nvSpPr>
        <p:spPr>
          <a:xfrm>
            <a:off x="6848856" y="1783080"/>
            <a:ext cx="292608" cy="86868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7123176" y="1783080"/>
            <a:ext cx="1920240" cy="868680"/>
          </a:xfrm>
          <a:prstGeom prst="roundRect">
            <a:avLst>
              <a:gd name="adj" fmla="val 631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9" name="Text 17"/>
          <p:cNvSpPr/>
          <p:nvPr/>
        </p:nvSpPr>
        <p:spPr>
          <a:xfrm>
            <a:off x="7260336" y="1901952"/>
            <a:ext cx="640080" cy="274320"/>
          </a:xfrm>
          <a:prstGeom prst="rect">
            <a:avLst/>
          </a:prstGeom>
          <a:noFill/>
          <a:ln/>
        </p:spPr>
        <p:txBody>
          <a:bodyPr wrap="square" lIns="0" tIns="0" rIns="0" bIns="0" rtlCol="0" anchor="ctr"/>
          <a:lstStyle/>
          <a:p>
            <a:pPr indent="0" marL="0">
              <a:buNone/>
            </a:pPr>
            <a:r>
              <a:rPr lang="en-US" sz="1200" b="1" dirty="0">
                <a:solidFill>
                  <a:srgbClr val="FF2D2D"/>
                </a:solidFill>
                <a:latin typeface="Courier New" pitchFamily="34" charset="0"/>
                <a:ea typeface="Courier New" pitchFamily="34" charset="-122"/>
                <a:cs typeface="Courier New" pitchFamily="34" charset="-120"/>
              </a:rPr>
              <a:t>04</a:t>
            </a:r>
            <a:endParaRPr lang="en-US" sz="1200" dirty="0"/>
          </a:p>
        </p:txBody>
      </p:sp>
      <p:sp>
        <p:nvSpPr>
          <p:cNvPr id="20" name="Text 18"/>
          <p:cNvSpPr/>
          <p:nvPr/>
        </p:nvSpPr>
        <p:spPr>
          <a:xfrm>
            <a:off x="7260336" y="2194560"/>
            <a:ext cx="1645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Store</a:t>
            </a:r>
            <a:endParaRPr lang="en-US" sz="1500" dirty="0"/>
          </a:p>
        </p:txBody>
      </p:sp>
      <p:sp>
        <p:nvSpPr>
          <p:cNvPr id="21" name="Text 19"/>
          <p:cNvSpPr/>
          <p:nvPr/>
        </p:nvSpPr>
        <p:spPr>
          <a:xfrm>
            <a:off x="9025128" y="1783080"/>
            <a:ext cx="292608" cy="86868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299448" y="1783080"/>
            <a:ext cx="1920240" cy="868680"/>
          </a:xfrm>
          <a:prstGeom prst="roundRect">
            <a:avLst>
              <a:gd name="adj" fmla="val 6316"/>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23" name="Text 21"/>
          <p:cNvSpPr/>
          <p:nvPr/>
        </p:nvSpPr>
        <p:spPr>
          <a:xfrm>
            <a:off x="9436608" y="1901952"/>
            <a:ext cx="640080" cy="274320"/>
          </a:xfrm>
          <a:prstGeom prst="rect">
            <a:avLst/>
          </a:prstGeom>
          <a:noFill/>
          <a:ln/>
        </p:spPr>
        <p:txBody>
          <a:bodyPr wrap="square" lIns="0" tIns="0" rIns="0" bIns="0" rtlCol="0" anchor="ctr"/>
          <a:lstStyle/>
          <a:p>
            <a:pPr indent="0" marL="0">
              <a:buNone/>
            </a:pPr>
            <a:r>
              <a:rPr lang="en-US" sz="1200" b="1" dirty="0">
                <a:solidFill>
                  <a:srgbClr val="FF2D2D"/>
                </a:solidFill>
                <a:latin typeface="Courier New" pitchFamily="34" charset="0"/>
                <a:ea typeface="Courier New" pitchFamily="34" charset="-122"/>
                <a:cs typeface="Courier New" pitchFamily="34" charset="-120"/>
              </a:rPr>
              <a:t>05</a:t>
            </a:r>
            <a:endParaRPr lang="en-US" sz="1200" dirty="0"/>
          </a:p>
        </p:txBody>
      </p:sp>
      <p:sp>
        <p:nvSpPr>
          <p:cNvPr id="24" name="Text 22"/>
          <p:cNvSpPr/>
          <p:nvPr/>
        </p:nvSpPr>
        <p:spPr>
          <a:xfrm>
            <a:off x="9436608" y="2194560"/>
            <a:ext cx="1645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Recall</a:t>
            </a:r>
            <a:endParaRPr lang="en-US" sz="1500" dirty="0"/>
          </a:p>
        </p:txBody>
      </p:sp>
      <p:sp>
        <p:nvSpPr>
          <p:cNvPr id="25" name="Text 23"/>
          <p:cNvSpPr/>
          <p:nvPr/>
        </p:nvSpPr>
        <p:spPr>
          <a:xfrm>
            <a:off x="594360" y="2971800"/>
            <a:ext cx="6400800" cy="1188720"/>
          </a:xfrm>
          <a:prstGeom prst="rect">
            <a:avLst/>
          </a:prstGeom>
          <a:noFill/>
          <a:ln/>
        </p:spPr>
        <p:txBody>
          <a:bodyPr wrap="square" lIns="0" tIns="0" rIns="0" bIns="0" rtlCol="0" anchor="ctr"/>
          <a:lstStyle/>
          <a:p>
            <a:pPr indent="0" marL="0">
              <a:lnSpc>
                <a:spcPct val="125000"/>
              </a:lnSpc>
              <a:buNone/>
            </a:pPr>
            <a:r>
              <a:rPr lang="en-US" sz="1600" dirty="0">
                <a:solidFill>
                  <a:srgbClr val="A6A6AE"/>
                </a:solidFill>
                <a:latin typeface="Arial" pitchFamily="34" charset="0"/>
                <a:ea typeface="Arial" pitchFamily="34" charset="-122"/>
                <a:cs typeface="Arial" pitchFamily="34" charset="-120"/>
              </a:rPr>
              <a:t>A local-first memory vault. Your character forms episodic awareness, tracks relationship growth, and surfaces the right memory at the right moment — automatically.</a:t>
            </a:r>
            <a:endParaRPr lang="en-US" sz="1600" dirty="0"/>
          </a:p>
        </p:txBody>
      </p:sp>
      <p:sp>
        <p:nvSpPr>
          <p:cNvPr id="26" name="Text 24"/>
          <p:cNvSpPr/>
          <p:nvPr/>
        </p:nvSpPr>
        <p:spPr>
          <a:xfrm>
            <a:off x="594360" y="4343400"/>
            <a:ext cx="64008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Character.AI remembers you on </a:t>
            </a:r>
            <a:pPr indent="0" marL="0">
              <a:buNone/>
            </a:pPr>
            <a:r>
              <a:rPr lang="en-US" sz="1800" b="1" dirty="0">
                <a:solidFill>
                  <a:srgbClr val="FF2D2D"/>
                </a:solidFill>
                <a:latin typeface="Arial" pitchFamily="34" charset="0"/>
                <a:ea typeface="Arial" pitchFamily="34" charset="-122"/>
                <a:cs typeface="Arial" pitchFamily="34" charset="-120"/>
              </a:rPr>
              <a:t>their</a:t>
            </a:r>
            <a:pPr indent="0" marL="0">
              <a:buNone/>
            </a:pPr>
            <a:r>
              <a:rPr lang="en-US" sz="1800" b="1" dirty="0">
                <a:solidFill>
                  <a:srgbClr val="FFFFFF"/>
                </a:solidFill>
                <a:latin typeface="Arial" pitchFamily="34" charset="0"/>
                <a:ea typeface="Arial" pitchFamily="34" charset="-122"/>
                <a:cs typeface="Arial" pitchFamily="34" charset="-120"/>
              </a:rPr>
              <a:t> servers.</a:t>
            </a:r>
            <a:endParaRPr lang="en-US" sz="1800" dirty="0"/>
          </a:p>
        </p:txBody>
      </p:sp>
      <p:sp>
        <p:nvSpPr>
          <p:cNvPr id="27" name="Text 25"/>
          <p:cNvSpPr/>
          <p:nvPr/>
        </p:nvSpPr>
        <p:spPr>
          <a:xfrm>
            <a:off x="594360" y="4754880"/>
            <a:ext cx="64008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ZEALWISH remembers you on </a:t>
            </a:r>
            <a:pPr indent="0" marL="0">
              <a:buNone/>
            </a:pPr>
            <a:r>
              <a:rPr lang="en-US" sz="1800" b="1" dirty="0">
                <a:solidFill>
                  <a:srgbClr val="FF2D2D"/>
                </a:solidFill>
                <a:latin typeface="Arial" pitchFamily="34" charset="0"/>
                <a:ea typeface="Arial" pitchFamily="34" charset="-122"/>
                <a:cs typeface="Arial" pitchFamily="34" charset="-120"/>
              </a:rPr>
              <a:t>yours</a:t>
            </a:r>
            <a:pP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7269480" y="2971800"/>
            <a:ext cx="4343400" cy="2468880"/>
          </a:xfrm>
          <a:prstGeom prst="roundRect">
            <a:avLst>
              <a:gd name="adj" fmla="val 1481"/>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pic>
        <p:nvPicPr>
          <p:cNvPr id="29" name="Image 0" descr="/sessions/quirky-peaceful-hypatia/mnt/ZEALWISH/docs/images/memory-archive.jpg">    </p:cNvPr>
          <p:cNvPicPr>
            <a:picLocks noChangeAspect="1"/>
          </p:cNvPicPr>
          <p:nvPr/>
        </p:nvPicPr>
        <p:blipFill>
          <a:blip r:embed="rId1"/>
          <a:srcRect l="0" r="0" t="0" b="0"/>
          <a:stretch/>
        </p:blipFill>
        <p:spPr>
          <a:xfrm>
            <a:off x="7360920" y="3063240"/>
            <a:ext cx="4160520" cy="228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06  /  OWNERSHIP</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The character passport.</a:t>
            </a:r>
            <a:endParaRPr lang="en-US" sz="3800" dirty="0"/>
          </a:p>
        </p:txBody>
      </p:sp>
      <p:sp>
        <p:nvSpPr>
          <p:cNvPr id="6" name="Shape 4"/>
          <p:cNvSpPr/>
          <p:nvPr/>
        </p:nvSpPr>
        <p:spPr>
          <a:xfrm>
            <a:off x="594360" y="1828800"/>
            <a:ext cx="2606040" cy="2514600"/>
          </a:xfrm>
          <a:prstGeom prst="roundRect">
            <a:avLst>
              <a:gd name="adj" fmla="val 2182"/>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795528" y="2029968"/>
            <a:ext cx="2194560" cy="320040"/>
          </a:xfrm>
          <a:prstGeom prst="rect">
            <a:avLst/>
          </a:prstGeom>
          <a:noFill/>
          <a:ln/>
        </p:spPr>
        <p:txBody>
          <a:bodyPr wrap="square" lIns="0" tIns="0" rIns="0" bIns="0" rtlCol="0" anchor="ctr"/>
          <a:lstStyle/>
          <a:p>
            <a:pPr indent="0" marL="0">
              <a:buNone/>
            </a:pPr>
            <a:r>
              <a:rPr lang="en-US" sz="1400" b="1" spc="100" kern="0" dirty="0">
                <a:solidFill>
                  <a:srgbClr val="FF2D2D"/>
                </a:solidFill>
                <a:latin typeface="Courier New" pitchFamily="34" charset="0"/>
                <a:ea typeface="Courier New" pitchFamily="34" charset="-122"/>
                <a:cs typeface="Courier New" pitchFamily="34" charset="-120"/>
              </a:rPr>
              <a:t>WALLET</a:t>
            </a:r>
            <a:endParaRPr lang="en-US" sz="1400" dirty="0"/>
          </a:p>
        </p:txBody>
      </p:sp>
      <p:sp>
        <p:nvSpPr>
          <p:cNvPr id="8" name="Text 6"/>
          <p:cNvSpPr/>
          <p:nvPr/>
        </p:nvSpPr>
        <p:spPr>
          <a:xfrm>
            <a:off x="795528" y="2468880"/>
            <a:ext cx="224028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Connect</a:t>
            </a:r>
            <a:endParaRPr lang="en-US" sz="1700" dirty="0"/>
          </a:p>
        </p:txBody>
      </p:sp>
      <p:sp>
        <p:nvSpPr>
          <p:cNvPr id="9" name="Text 7"/>
          <p:cNvSpPr/>
          <p:nvPr/>
        </p:nvSpPr>
        <p:spPr>
          <a:xfrm>
            <a:off x="795528" y="2926080"/>
            <a:ext cx="2240280" cy="731520"/>
          </a:xfrm>
          <a:prstGeom prst="rect">
            <a:avLst/>
          </a:prstGeom>
          <a:noFill/>
          <a:ln/>
        </p:spPr>
        <p:txBody>
          <a:bodyPr wrap="square" lIns="0" tIns="0" rIns="0" bIns="0" rtlCol="0" anchor="ctr"/>
          <a:lstStyle/>
          <a:p>
            <a:pPr indent="0" marL="0">
              <a:lnSpc>
                <a:spcPct val="110000"/>
              </a:lnSpc>
              <a:buNone/>
            </a:pPr>
            <a:r>
              <a:rPr lang="en-US" sz="1250" dirty="0">
                <a:solidFill>
                  <a:srgbClr val="A6A6AE"/>
                </a:solidFill>
                <a:latin typeface="Arial" pitchFamily="34" charset="0"/>
                <a:ea typeface="Arial" pitchFamily="34" charset="-122"/>
                <a:cs typeface="Arial" pitchFamily="34" charset="-120"/>
              </a:rPr>
              <a:t>User-owned account</a:t>
            </a:r>
            <a:endParaRPr lang="en-US" sz="1250" dirty="0"/>
          </a:p>
        </p:txBody>
      </p:sp>
      <p:sp>
        <p:nvSpPr>
          <p:cNvPr id="10" name="Text 8"/>
          <p:cNvSpPr/>
          <p:nvPr/>
        </p:nvSpPr>
        <p:spPr>
          <a:xfrm>
            <a:off x="795528" y="3886200"/>
            <a:ext cx="2194560" cy="274320"/>
          </a:xfrm>
          <a:prstGeom prst="rect">
            <a:avLst/>
          </a:prstGeom>
          <a:noFill/>
          <a:ln/>
        </p:spPr>
        <p:txBody>
          <a:bodyPr wrap="square" lIns="0" tIns="0" rIns="0" bIns="0" rtlCol="0" anchor="ctr"/>
          <a:lstStyle/>
          <a:p>
            <a:pPr indent="0" marL="0">
              <a:buNone/>
            </a:pPr>
            <a:r>
              <a:rPr lang="en-US" sz="1000" b="1" spc="100" kern="0" dirty="0">
                <a:solidFill>
                  <a:srgbClr val="FF2D2D"/>
                </a:solidFill>
                <a:latin typeface="Courier New" pitchFamily="34" charset="0"/>
                <a:ea typeface="Courier New" pitchFamily="34" charset="-122"/>
                <a:cs typeface="Courier New" pitchFamily="34" charset="-120"/>
              </a:rPr>
              <a:t>LIVE</a:t>
            </a:r>
            <a:endParaRPr lang="en-US" sz="1000" dirty="0"/>
          </a:p>
        </p:txBody>
      </p:sp>
      <p:sp>
        <p:nvSpPr>
          <p:cNvPr id="11" name="Text 9"/>
          <p:cNvSpPr/>
          <p:nvPr/>
        </p:nvSpPr>
        <p:spPr>
          <a:xfrm>
            <a:off x="3200400" y="1828800"/>
            <a:ext cx="182880" cy="251460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3383280" y="1828800"/>
            <a:ext cx="2606040" cy="2514600"/>
          </a:xfrm>
          <a:prstGeom prst="roundRect">
            <a:avLst>
              <a:gd name="adj" fmla="val 2182"/>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3" name="Text 11"/>
          <p:cNvSpPr/>
          <p:nvPr/>
        </p:nvSpPr>
        <p:spPr>
          <a:xfrm>
            <a:off x="3584448" y="2029968"/>
            <a:ext cx="2194560" cy="320040"/>
          </a:xfrm>
          <a:prstGeom prst="rect">
            <a:avLst/>
          </a:prstGeom>
          <a:noFill/>
          <a:ln/>
        </p:spPr>
        <p:txBody>
          <a:bodyPr wrap="square" lIns="0" tIns="0" rIns="0" bIns="0" rtlCol="0" anchor="ctr"/>
          <a:lstStyle/>
          <a:p>
            <a:pPr indent="0" marL="0">
              <a:buNone/>
            </a:pPr>
            <a:r>
              <a:rPr lang="en-US" sz="1400" b="1" spc="100" kern="0" dirty="0">
                <a:solidFill>
                  <a:srgbClr val="FF2D2D"/>
                </a:solidFill>
                <a:latin typeface="Courier New" pitchFamily="34" charset="0"/>
                <a:ea typeface="Courier New" pitchFamily="34" charset="-122"/>
                <a:cs typeface="Courier New" pitchFamily="34" charset="-120"/>
              </a:rPr>
              <a:t>PASSPORT</a:t>
            </a:r>
            <a:endParaRPr lang="en-US" sz="1400" dirty="0"/>
          </a:p>
        </p:txBody>
      </p:sp>
      <p:sp>
        <p:nvSpPr>
          <p:cNvPr id="14" name="Text 12"/>
          <p:cNvSpPr/>
          <p:nvPr/>
        </p:nvSpPr>
        <p:spPr>
          <a:xfrm>
            <a:off x="3584448" y="2468880"/>
            <a:ext cx="224028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Mint identity</a:t>
            </a:r>
            <a:endParaRPr lang="en-US" sz="1700" dirty="0"/>
          </a:p>
        </p:txBody>
      </p:sp>
      <p:sp>
        <p:nvSpPr>
          <p:cNvPr id="15" name="Text 13"/>
          <p:cNvSpPr/>
          <p:nvPr/>
        </p:nvSpPr>
        <p:spPr>
          <a:xfrm>
            <a:off x="3584448" y="2926080"/>
            <a:ext cx="2240280" cy="731520"/>
          </a:xfrm>
          <a:prstGeom prst="rect">
            <a:avLst/>
          </a:prstGeom>
          <a:noFill/>
          <a:ln/>
        </p:spPr>
        <p:txBody>
          <a:bodyPr wrap="square" lIns="0" tIns="0" rIns="0" bIns="0" rtlCol="0" anchor="ctr"/>
          <a:lstStyle/>
          <a:p>
            <a:pPr indent="0" marL="0">
              <a:lnSpc>
                <a:spcPct val="110000"/>
              </a:lnSpc>
              <a:buNone/>
            </a:pPr>
            <a:r>
              <a:rPr lang="en-US" sz="1250" dirty="0">
                <a:solidFill>
                  <a:srgbClr val="A6A6AE"/>
                </a:solidFill>
                <a:latin typeface="Arial" pitchFamily="34" charset="0"/>
                <a:ea typeface="Arial" pitchFamily="34" charset="-122"/>
                <a:cs typeface="Arial" pitchFamily="34" charset="-120"/>
              </a:rPr>
              <a:t>Provenance + permissions</a:t>
            </a:r>
            <a:endParaRPr lang="en-US" sz="1250" dirty="0"/>
          </a:p>
        </p:txBody>
      </p:sp>
      <p:sp>
        <p:nvSpPr>
          <p:cNvPr id="16" name="Text 14"/>
          <p:cNvSpPr/>
          <p:nvPr/>
        </p:nvSpPr>
        <p:spPr>
          <a:xfrm>
            <a:off x="3584448" y="3886200"/>
            <a:ext cx="2194560" cy="274320"/>
          </a:xfrm>
          <a:prstGeom prst="rect">
            <a:avLst/>
          </a:prstGeom>
          <a:noFill/>
          <a:ln/>
        </p:spPr>
        <p:txBody>
          <a:bodyPr wrap="square" lIns="0" tIns="0" rIns="0" bIns="0" rtlCol="0" anchor="ctr"/>
          <a:lstStyle/>
          <a:p>
            <a:pPr indent="0" marL="0">
              <a:buNone/>
            </a:pPr>
            <a:r>
              <a:rPr lang="en-US" sz="1000" b="1" spc="100" kern="0" dirty="0">
                <a:solidFill>
                  <a:srgbClr val="6C6C75"/>
                </a:solidFill>
                <a:latin typeface="Courier New" pitchFamily="34" charset="0"/>
                <a:ea typeface="Courier New" pitchFamily="34" charset="-122"/>
                <a:cs typeface="Courier New" pitchFamily="34" charset="-120"/>
              </a:rPr>
              <a:t>NEXT</a:t>
            </a:r>
            <a:endParaRPr lang="en-US" sz="1000" dirty="0"/>
          </a:p>
        </p:txBody>
      </p:sp>
      <p:sp>
        <p:nvSpPr>
          <p:cNvPr id="17" name="Text 15"/>
          <p:cNvSpPr/>
          <p:nvPr/>
        </p:nvSpPr>
        <p:spPr>
          <a:xfrm>
            <a:off x="5989320" y="1828800"/>
            <a:ext cx="182880" cy="251460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172200" y="1828800"/>
            <a:ext cx="2606040" cy="2514600"/>
          </a:xfrm>
          <a:prstGeom prst="roundRect">
            <a:avLst>
              <a:gd name="adj" fmla="val 2182"/>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9" name="Text 17"/>
          <p:cNvSpPr/>
          <p:nvPr/>
        </p:nvSpPr>
        <p:spPr>
          <a:xfrm>
            <a:off x="6373368" y="2029968"/>
            <a:ext cx="2194560" cy="320040"/>
          </a:xfrm>
          <a:prstGeom prst="rect">
            <a:avLst/>
          </a:prstGeom>
          <a:noFill/>
          <a:ln/>
        </p:spPr>
        <p:txBody>
          <a:bodyPr wrap="square" lIns="0" tIns="0" rIns="0" bIns="0" rtlCol="0" anchor="ctr"/>
          <a:lstStyle/>
          <a:p>
            <a:pPr indent="0" marL="0">
              <a:buNone/>
            </a:pPr>
            <a:r>
              <a:rPr lang="en-US" sz="1400" b="1" spc="100" kern="0" dirty="0">
                <a:solidFill>
                  <a:srgbClr val="FF2D2D"/>
                </a:solidFill>
                <a:latin typeface="Courier New" pitchFamily="34" charset="0"/>
                <a:ea typeface="Courier New" pitchFamily="34" charset="-122"/>
                <a:cs typeface="Courier New" pitchFamily="34" charset="-120"/>
              </a:rPr>
              <a:t>VAULT</a:t>
            </a:r>
            <a:endParaRPr lang="en-US" sz="1400" dirty="0"/>
          </a:p>
        </p:txBody>
      </p:sp>
      <p:sp>
        <p:nvSpPr>
          <p:cNvPr id="20" name="Text 18"/>
          <p:cNvSpPr/>
          <p:nvPr/>
        </p:nvSpPr>
        <p:spPr>
          <a:xfrm>
            <a:off x="6373368" y="2468880"/>
            <a:ext cx="224028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memory</a:t>
            </a:r>
            <a:endParaRPr lang="en-US" sz="1700" dirty="0"/>
          </a:p>
        </p:txBody>
      </p:sp>
      <p:sp>
        <p:nvSpPr>
          <p:cNvPr id="21" name="Text 19"/>
          <p:cNvSpPr/>
          <p:nvPr/>
        </p:nvSpPr>
        <p:spPr>
          <a:xfrm>
            <a:off x="6373368" y="2926080"/>
            <a:ext cx="2240280" cy="731520"/>
          </a:xfrm>
          <a:prstGeom prst="rect">
            <a:avLst/>
          </a:prstGeom>
          <a:noFill/>
          <a:ln/>
        </p:spPr>
        <p:txBody>
          <a:bodyPr wrap="square" lIns="0" tIns="0" rIns="0" bIns="0" rtlCol="0" anchor="ctr"/>
          <a:lstStyle/>
          <a:p>
            <a:pPr indent="0" marL="0">
              <a:lnSpc>
                <a:spcPct val="110000"/>
              </a:lnSpc>
              <a:buNone/>
            </a:pPr>
            <a:r>
              <a:rPr lang="en-US" sz="1250" dirty="0">
                <a:solidFill>
                  <a:srgbClr val="A6A6AE"/>
                </a:solidFill>
                <a:latin typeface="Arial" pitchFamily="34" charset="0"/>
                <a:ea typeface="Arial" pitchFamily="34" charset="-122"/>
                <a:cs typeface="Arial" pitchFamily="34" charset="-120"/>
              </a:rPr>
              <a:t>Off-chain, hashed proofs</a:t>
            </a:r>
            <a:endParaRPr lang="en-US" sz="1250" dirty="0"/>
          </a:p>
        </p:txBody>
      </p:sp>
      <p:sp>
        <p:nvSpPr>
          <p:cNvPr id="22" name="Text 20"/>
          <p:cNvSpPr/>
          <p:nvPr/>
        </p:nvSpPr>
        <p:spPr>
          <a:xfrm>
            <a:off x="6373368" y="3886200"/>
            <a:ext cx="2194560" cy="274320"/>
          </a:xfrm>
          <a:prstGeom prst="rect">
            <a:avLst/>
          </a:prstGeom>
          <a:noFill/>
          <a:ln/>
        </p:spPr>
        <p:txBody>
          <a:bodyPr wrap="square" lIns="0" tIns="0" rIns="0" bIns="0" rtlCol="0" anchor="ctr"/>
          <a:lstStyle/>
          <a:p>
            <a:pPr indent="0" marL="0">
              <a:buNone/>
            </a:pPr>
            <a:r>
              <a:rPr lang="en-US" sz="1000" b="1" spc="100" kern="0" dirty="0">
                <a:solidFill>
                  <a:srgbClr val="6C6C75"/>
                </a:solidFill>
                <a:latin typeface="Courier New" pitchFamily="34" charset="0"/>
                <a:ea typeface="Courier New" pitchFamily="34" charset="-122"/>
                <a:cs typeface="Courier New" pitchFamily="34" charset="-120"/>
              </a:rPr>
              <a:t>NEXT</a:t>
            </a:r>
            <a:endParaRPr lang="en-US" sz="1000" dirty="0"/>
          </a:p>
        </p:txBody>
      </p:sp>
      <p:sp>
        <p:nvSpPr>
          <p:cNvPr id="23" name="Text 21"/>
          <p:cNvSpPr/>
          <p:nvPr/>
        </p:nvSpPr>
        <p:spPr>
          <a:xfrm>
            <a:off x="8778240" y="1828800"/>
            <a:ext cx="182880" cy="2514600"/>
          </a:xfrm>
          <a:prstGeom prst="rect">
            <a:avLst/>
          </a:prstGeom>
          <a:noFill/>
          <a:ln/>
        </p:spPr>
        <p:txBody>
          <a:bodyPr wrap="square" lIns="0" tIns="0" rIns="0" bIns="0" rtlCol="0" anchor="ctr"/>
          <a:lstStyle/>
          <a:p>
            <a:pPr algn="ctr" indent="0" marL="0">
              <a:buNone/>
            </a:pPr>
            <a:r>
              <a:rPr lang="en-US" sz="1600" dirty="0">
                <a:solidFill>
                  <a:srgbClr val="FF2D2D"/>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8961120" y="1828800"/>
            <a:ext cx="2606040" cy="2514600"/>
          </a:xfrm>
          <a:prstGeom prst="roundRect">
            <a:avLst>
              <a:gd name="adj" fmla="val 2182"/>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25" name="Text 23"/>
          <p:cNvSpPr/>
          <p:nvPr/>
        </p:nvSpPr>
        <p:spPr>
          <a:xfrm>
            <a:off x="9162288" y="2029968"/>
            <a:ext cx="2194560" cy="320040"/>
          </a:xfrm>
          <a:prstGeom prst="rect">
            <a:avLst/>
          </a:prstGeom>
          <a:noFill/>
          <a:ln/>
        </p:spPr>
        <p:txBody>
          <a:bodyPr wrap="square" lIns="0" tIns="0" rIns="0" bIns="0" rtlCol="0" anchor="ctr"/>
          <a:lstStyle/>
          <a:p>
            <a:pPr indent="0" marL="0">
              <a:buNone/>
            </a:pPr>
            <a:r>
              <a:rPr lang="en-US" sz="1400" b="1" spc="100" kern="0" dirty="0">
                <a:solidFill>
                  <a:srgbClr val="FF2D2D"/>
                </a:solidFill>
                <a:latin typeface="Courier New" pitchFamily="34" charset="0"/>
                <a:ea typeface="Courier New" pitchFamily="34" charset="-122"/>
                <a:cs typeface="Courier New" pitchFamily="34" charset="-120"/>
              </a:rPr>
              <a:t>WORLDS</a:t>
            </a:r>
            <a:endParaRPr lang="en-US" sz="1400" dirty="0"/>
          </a:p>
        </p:txBody>
      </p:sp>
      <p:sp>
        <p:nvSpPr>
          <p:cNvPr id="26" name="Text 24"/>
          <p:cNvSpPr/>
          <p:nvPr/>
        </p:nvSpPr>
        <p:spPr>
          <a:xfrm>
            <a:off x="9162288" y="2468880"/>
            <a:ext cx="224028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Carry anywhere</a:t>
            </a:r>
            <a:endParaRPr lang="en-US" sz="1700" dirty="0"/>
          </a:p>
        </p:txBody>
      </p:sp>
      <p:sp>
        <p:nvSpPr>
          <p:cNvPr id="27" name="Text 25"/>
          <p:cNvSpPr/>
          <p:nvPr/>
        </p:nvSpPr>
        <p:spPr>
          <a:xfrm>
            <a:off x="9162288" y="2926080"/>
            <a:ext cx="2240280" cy="731520"/>
          </a:xfrm>
          <a:prstGeom prst="rect">
            <a:avLst/>
          </a:prstGeom>
          <a:noFill/>
          <a:ln/>
        </p:spPr>
        <p:txBody>
          <a:bodyPr wrap="square" lIns="0" tIns="0" rIns="0" bIns="0" rtlCol="0" anchor="ctr"/>
          <a:lstStyle/>
          <a:p>
            <a:pPr indent="0" marL="0">
              <a:lnSpc>
                <a:spcPct val="110000"/>
              </a:lnSpc>
              <a:buNone/>
            </a:pPr>
            <a:r>
              <a:rPr lang="en-US" sz="1250" dirty="0">
                <a:solidFill>
                  <a:srgbClr val="A6A6AE"/>
                </a:solidFill>
                <a:latin typeface="Arial" pitchFamily="34" charset="0"/>
                <a:ea typeface="Arial" pitchFamily="34" charset="-122"/>
                <a:cs typeface="Arial" pitchFamily="34" charset="-120"/>
              </a:rPr>
              <a:t>Games · agents · creators</a:t>
            </a:r>
            <a:endParaRPr lang="en-US" sz="1250" dirty="0"/>
          </a:p>
        </p:txBody>
      </p:sp>
      <p:sp>
        <p:nvSpPr>
          <p:cNvPr id="28" name="Text 26"/>
          <p:cNvSpPr/>
          <p:nvPr/>
        </p:nvSpPr>
        <p:spPr>
          <a:xfrm>
            <a:off x="9162288" y="3886200"/>
            <a:ext cx="2194560" cy="274320"/>
          </a:xfrm>
          <a:prstGeom prst="rect">
            <a:avLst/>
          </a:prstGeom>
          <a:noFill/>
          <a:ln/>
        </p:spPr>
        <p:txBody>
          <a:bodyPr wrap="square" lIns="0" tIns="0" rIns="0" bIns="0" rtlCol="0" anchor="ctr"/>
          <a:lstStyle/>
          <a:p>
            <a:pPr indent="0" marL="0">
              <a:buNone/>
            </a:pPr>
            <a:r>
              <a:rPr lang="en-US" sz="1000" b="1" spc="100" kern="0" dirty="0">
                <a:solidFill>
                  <a:srgbClr val="6C6C75"/>
                </a:solidFill>
                <a:latin typeface="Courier New" pitchFamily="34" charset="0"/>
                <a:ea typeface="Courier New" pitchFamily="34" charset="-122"/>
                <a:cs typeface="Courier New" pitchFamily="34" charset="-120"/>
              </a:rPr>
              <a:t>ROADMAP</a:t>
            </a:r>
            <a:endParaRPr lang="en-US" sz="1000" dirty="0"/>
          </a:p>
        </p:txBody>
      </p:sp>
      <p:sp>
        <p:nvSpPr>
          <p:cNvPr id="29" name="Text 27"/>
          <p:cNvSpPr/>
          <p:nvPr/>
        </p:nvSpPr>
        <p:spPr>
          <a:xfrm>
            <a:off x="594360" y="4892040"/>
            <a:ext cx="10972800" cy="731520"/>
          </a:xfrm>
          <a:prstGeom prst="rect">
            <a:avLst/>
          </a:prstGeom>
          <a:noFill/>
          <a:ln/>
        </p:spPr>
        <p:txBody>
          <a:bodyPr wrap="square" lIns="0" tIns="0" rIns="0" bIns="0" rtlCol="0" anchor="ctr"/>
          <a:lstStyle/>
          <a:p>
            <a:pPr indent="0" marL="0">
              <a:lnSpc>
                <a:spcPct val="115000"/>
              </a:lnSpc>
              <a:buNone/>
            </a:pPr>
            <a:r>
              <a:rPr lang="en-US" sz="1450" b="1" dirty="0">
                <a:solidFill>
                  <a:srgbClr val="FF2D2D"/>
                </a:solidFill>
                <a:latin typeface="Arial" pitchFamily="34" charset="0"/>
                <a:ea typeface="Arial" pitchFamily="34" charset="-122"/>
                <a:cs typeface="Arial" pitchFamily="34" charset="-120"/>
              </a:rPr>
              <a:t>Honest status:  </a:t>
            </a:r>
            <a:pPr indent="0" marL="0">
              <a:lnSpc>
                <a:spcPct val="115000"/>
              </a:lnSpc>
              <a:buNone/>
            </a:pPr>
            <a:r>
              <a:rPr lang="en-US" sz="1450" dirty="0">
                <a:solidFill>
                  <a:srgbClr val="A6A6AE"/>
                </a:solidFill>
                <a:latin typeface="Arial" pitchFamily="34" charset="0"/>
                <a:ea typeface="Arial" pitchFamily="34" charset="-122"/>
                <a:cs typeface="Arial" pitchFamily="34" charset="-120"/>
              </a:rPr>
              <a:t>OKX wallet connect is live today. Passport minting and the on-chain registry are our next milestone — not vaporware, scoped and on the roadmap.</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07  /  OPEN INFRASTRUCTURE</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Not just an app. A standard others build on.</a:t>
            </a:r>
            <a:endParaRPr lang="en-US" sz="3800" dirty="0"/>
          </a:p>
        </p:txBody>
      </p:sp>
      <p:sp>
        <p:nvSpPr>
          <p:cNvPr id="6" name="Text 4"/>
          <p:cNvSpPr/>
          <p:nvPr/>
        </p:nvSpPr>
        <p:spPr>
          <a:xfrm>
            <a:off x="594360" y="1783080"/>
            <a:ext cx="10972800" cy="868680"/>
          </a:xfrm>
          <a:prstGeom prst="rect">
            <a:avLst/>
          </a:prstGeom>
          <a:noFill/>
          <a:ln/>
        </p:spPr>
        <p:txBody>
          <a:bodyPr wrap="square" lIns="0" tIns="0" rIns="0" bIns="0" rtlCol="0" anchor="ctr"/>
          <a:lstStyle/>
          <a:p>
            <a:pPr indent="0" marL="0">
              <a:lnSpc>
                <a:spcPct val="120000"/>
              </a:lnSpc>
              <a:buNone/>
            </a:pPr>
            <a:r>
              <a:rPr lang="en-US" sz="1700" dirty="0">
                <a:solidFill>
                  <a:srgbClr val="A6A6AE"/>
                </a:solidFill>
                <a:latin typeface="Arial" pitchFamily="34" charset="0"/>
                <a:ea typeface="Arial" pitchFamily="34" charset="-122"/>
                <a:cs typeface="Arial" pitchFamily="34" charset="-120"/>
              </a:rPr>
              <a:t>We're open-sourcing the character + memory passport as a reusable spec, SDK, and CLI. Any app, agent, game, or creator world can read a ZEALWISH passport. Build a character once — carry it everywhere.</a:t>
            </a:r>
            <a:endParaRPr lang="en-US" sz="1700" dirty="0"/>
          </a:p>
        </p:txBody>
      </p:sp>
      <p:sp>
        <p:nvSpPr>
          <p:cNvPr id="7" name="Shape 5"/>
          <p:cNvSpPr/>
          <p:nvPr/>
        </p:nvSpPr>
        <p:spPr>
          <a:xfrm>
            <a:off x="594360" y="28346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8" name="Text 6"/>
          <p:cNvSpPr/>
          <p:nvPr/>
        </p:nvSpPr>
        <p:spPr>
          <a:xfrm>
            <a:off x="822960" y="2999232"/>
            <a:ext cx="1097280" cy="365760"/>
          </a:xfrm>
          <a:prstGeom prst="rect">
            <a:avLst/>
          </a:prstGeom>
          <a:noFill/>
          <a:ln/>
        </p:spPr>
        <p:txBody>
          <a:bodyPr wrap="square" lIns="0" tIns="0" rIns="0" bIns="0" rtlCol="0" anchor="ctr"/>
          <a:lstStyle/>
          <a:p>
            <a:pPr indent="0" marL="0">
              <a:buNone/>
            </a:pPr>
            <a:r>
              <a:rPr lang="en-US" sz="1600" b="1" dirty="0">
                <a:solidFill>
                  <a:srgbClr val="FF2D2D"/>
                </a:solidFill>
                <a:latin typeface="Courier New" pitchFamily="34" charset="0"/>
                <a:ea typeface="Courier New" pitchFamily="34" charset="-122"/>
                <a:cs typeface="Courier New" pitchFamily="34" charset="-120"/>
              </a:rPr>
              <a:t>01</a:t>
            </a:r>
            <a:endParaRPr lang="en-US" sz="1600" dirty="0"/>
          </a:p>
        </p:txBody>
      </p:sp>
      <p:sp>
        <p:nvSpPr>
          <p:cNvPr id="9" name="Text 7"/>
          <p:cNvSpPr/>
          <p:nvPr/>
        </p:nvSpPr>
        <p:spPr>
          <a:xfrm>
            <a:off x="822960" y="3310128"/>
            <a:ext cx="30632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Open memory schema</a:t>
            </a:r>
            <a:endParaRPr lang="en-US" sz="1600" dirty="0"/>
          </a:p>
        </p:txBody>
      </p:sp>
      <p:sp>
        <p:nvSpPr>
          <p:cNvPr id="10" name="Text 8"/>
          <p:cNvSpPr/>
          <p:nvPr/>
        </p:nvSpPr>
        <p:spPr>
          <a:xfrm>
            <a:off x="822960" y="3703320"/>
            <a:ext cx="3063240" cy="731520"/>
          </a:xfrm>
          <a:prstGeom prst="rect">
            <a:avLst/>
          </a:prstGeom>
          <a:noFill/>
          <a:ln/>
        </p:spPr>
        <p:txBody>
          <a:bodyPr wrap="square" lIns="0" tIns="0" rIns="0" bIns="0" rtlCol="0" anchor="ctr"/>
          <a:lstStyle/>
          <a:p>
            <a:pPr indent="0" marL="0">
              <a:lnSpc>
                <a:spcPct val="112000"/>
              </a:lnSpc>
              <a:buNone/>
            </a:pPr>
            <a:r>
              <a:rPr lang="en-US" sz="1250" dirty="0">
                <a:solidFill>
                  <a:srgbClr val="A6A6AE"/>
                </a:solidFill>
                <a:latin typeface="Arial" pitchFamily="34" charset="0"/>
                <a:ea typeface="Arial" pitchFamily="34" charset="-122"/>
                <a:cs typeface="Arial" pitchFamily="34" charset="-120"/>
              </a:rPr>
              <a:t>A portable, documented format for character memory and relationship state.</a:t>
            </a:r>
            <a:endParaRPr lang="en-US" sz="1250" dirty="0"/>
          </a:p>
        </p:txBody>
      </p:sp>
      <p:sp>
        <p:nvSpPr>
          <p:cNvPr id="11" name="Shape 9"/>
          <p:cNvSpPr/>
          <p:nvPr/>
        </p:nvSpPr>
        <p:spPr>
          <a:xfrm>
            <a:off x="4288536" y="28346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2" name="Text 10"/>
          <p:cNvSpPr/>
          <p:nvPr/>
        </p:nvSpPr>
        <p:spPr>
          <a:xfrm>
            <a:off x="4517136" y="2999232"/>
            <a:ext cx="1097280" cy="365760"/>
          </a:xfrm>
          <a:prstGeom prst="rect">
            <a:avLst/>
          </a:prstGeom>
          <a:noFill/>
          <a:ln/>
        </p:spPr>
        <p:txBody>
          <a:bodyPr wrap="square" lIns="0" tIns="0" rIns="0" bIns="0" rtlCol="0" anchor="ctr"/>
          <a:lstStyle/>
          <a:p>
            <a:pPr indent="0" marL="0">
              <a:buNone/>
            </a:pPr>
            <a:r>
              <a:rPr lang="en-US" sz="1600" b="1" dirty="0">
                <a:solidFill>
                  <a:srgbClr val="FF2D2D"/>
                </a:solidFill>
                <a:latin typeface="Courier New" pitchFamily="34" charset="0"/>
                <a:ea typeface="Courier New" pitchFamily="34" charset="-122"/>
                <a:cs typeface="Courier New" pitchFamily="34" charset="-120"/>
              </a:rPr>
              <a:t>02</a:t>
            </a:r>
            <a:endParaRPr lang="en-US" sz="1600" dirty="0"/>
          </a:p>
        </p:txBody>
      </p:sp>
      <p:sp>
        <p:nvSpPr>
          <p:cNvPr id="13" name="Text 11"/>
          <p:cNvSpPr/>
          <p:nvPr/>
        </p:nvSpPr>
        <p:spPr>
          <a:xfrm>
            <a:off x="4517136" y="3310128"/>
            <a:ext cx="30632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Character passport spec</a:t>
            </a:r>
            <a:endParaRPr lang="en-US" sz="1600" dirty="0"/>
          </a:p>
        </p:txBody>
      </p:sp>
      <p:sp>
        <p:nvSpPr>
          <p:cNvPr id="14" name="Text 12"/>
          <p:cNvSpPr/>
          <p:nvPr/>
        </p:nvSpPr>
        <p:spPr>
          <a:xfrm>
            <a:off x="4517136" y="3703320"/>
            <a:ext cx="3063240" cy="731520"/>
          </a:xfrm>
          <a:prstGeom prst="rect">
            <a:avLst/>
          </a:prstGeom>
          <a:noFill/>
          <a:ln/>
        </p:spPr>
        <p:txBody>
          <a:bodyPr wrap="square" lIns="0" tIns="0" rIns="0" bIns="0" rtlCol="0" anchor="ctr"/>
          <a:lstStyle/>
          <a:p>
            <a:pPr indent="0" marL="0">
              <a:lnSpc>
                <a:spcPct val="112000"/>
              </a:lnSpc>
              <a:buNone/>
            </a:pPr>
            <a:r>
              <a:rPr lang="en-US" sz="1250" dirty="0">
                <a:solidFill>
                  <a:srgbClr val="A6A6AE"/>
                </a:solidFill>
                <a:latin typeface="Arial" pitchFamily="34" charset="0"/>
                <a:ea typeface="Arial" pitchFamily="34" charset="-122"/>
                <a:cs typeface="Arial" pitchFamily="34" charset="-120"/>
              </a:rPr>
              <a:t>An open identity record any third party can verify and extend.</a:t>
            </a:r>
            <a:endParaRPr lang="en-US" sz="1250" dirty="0"/>
          </a:p>
        </p:txBody>
      </p:sp>
      <p:sp>
        <p:nvSpPr>
          <p:cNvPr id="15" name="Shape 13"/>
          <p:cNvSpPr/>
          <p:nvPr/>
        </p:nvSpPr>
        <p:spPr>
          <a:xfrm>
            <a:off x="7982712" y="28346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6" name="Text 14"/>
          <p:cNvSpPr/>
          <p:nvPr/>
        </p:nvSpPr>
        <p:spPr>
          <a:xfrm>
            <a:off x="8211312" y="2999232"/>
            <a:ext cx="1097280" cy="365760"/>
          </a:xfrm>
          <a:prstGeom prst="rect">
            <a:avLst/>
          </a:prstGeom>
          <a:noFill/>
          <a:ln/>
        </p:spPr>
        <p:txBody>
          <a:bodyPr wrap="square" lIns="0" tIns="0" rIns="0" bIns="0" rtlCol="0" anchor="ctr"/>
          <a:lstStyle/>
          <a:p>
            <a:pPr indent="0" marL="0">
              <a:buNone/>
            </a:pPr>
            <a:r>
              <a:rPr lang="en-US" sz="1600" b="1" dirty="0">
                <a:solidFill>
                  <a:srgbClr val="FF2D2D"/>
                </a:solidFill>
                <a:latin typeface="Courier New" pitchFamily="34" charset="0"/>
                <a:ea typeface="Courier New" pitchFamily="34" charset="-122"/>
                <a:cs typeface="Courier New" pitchFamily="34" charset="-120"/>
              </a:rPr>
              <a:t>03</a:t>
            </a:r>
            <a:endParaRPr lang="en-US" sz="1600" dirty="0"/>
          </a:p>
        </p:txBody>
      </p:sp>
      <p:sp>
        <p:nvSpPr>
          <p:cNvPr id="17" name="Text 15"/>
          <p:cNvSpPr/>
          <p:nvPr/>
        </p:nvSpPr>
        <p:spPr>
          <a:xfrm>
            <a:off x="8211312" y="3310128"/>
            <a:ext cx="306324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SDK + CLI</a:t>
            </a:r>
            <a:endParaRPr lang="en-US" sz="1600" dirty="0"/>
          </a:p>
        </p:txBody>
      </p:sp>
      <p:sp>
        <p:nvSpPr>
          <p:cNvPr id="18" name="Text 16"/>
          <p:cNvSpPr/>
          <p:nvPr/>
        </p:nvSpPr>
        <p:spPr>
          <a:xfrm>
            <a:off x="8211312" y="3703320"/>
            <a:ext cx="3063240" cy="731520"/>
          </a:xfrm>
          <a:prstGeom prst="rect">
            <a:avLst/>
          </a:prstGeom>
          <a:noFill/>
          <a:ln/>
        </p:spPr>
        <p:txBody>
          <a:bodyPr wrap="square" lIns="0" tIns="0" rIns="0" bIns="0" rtlCol="0" anchor="ctr"/>
          <a:lstStyle/>
          <a:p>
            <a:pPr indent="0" marL="0">
              <a:lnSpc>
                <a:spcPct val="112000"/>
              </a:lnSpc>
              <a:buNone/>
            </a:pPr>
            <a:r>
              <a:rPr lang="en-US" sz="1250" dirty="0">
                <a:solidFill>
                  <a:srgbClr val="A6A6AE"/>
                </a:solidFill>
                <a:latin typeface="Arial" pitchFamily="34" charset="0"/>
                <a:ea typeface="Arial" pitchFamily="34" charset="-122"/>
                <a:cs typeface="Arial" pitchFamily="34" charset="-120"/>
              </a:rPr>
              <a:t>Drop-in tools so other builders ship on ZEALWISH in an afternoon.</a:t>
            </a:r>
            <a:endParaRPr lang="en-US" sz="1250" dirty="0"/>
          </a:p>
        </p:txBody>
      </p:sp>
      <p:sp>
        <p:nvSpPr>
          <p:cNvPr id="19" name="Text 17"/>
          <p:cNvSpPr/>
          <p:nvPr/>
        </p:nvSpPr>
        <p:spPr>
          <a:xfrm>
            <a:off x="594360" y="4937760"/>
            <a:ext cx="10972800" cy="64008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Arial" pitchFamily="34" charset="0"/>
                <a:ea typeface="Arial" pitchFamily="34" charset="-122"/>
                <a:cs typeface="Arial" pitchFamily="34" charset="-120"/>
              </a:rPr>
              <a:t>UCWS is judged by real usage and community impact — </a:t>
            </a:r>
            <a:pPr indent="0" marL="0">
              <a:lnSpc>
                <a:spcPct val="115000"/>
              </a:lnSpc>
              <a:buNone/>
            </a:pPr>
            <a:r>
              <a:rPr lang="en-US" sz="1500" dirty="0">
                <a:solidFill>
                  <a:srgbClr val="A6A6AE"/>
                </a:solidFill>
                <a:latin typeface="Arial" pitchFamily="34" charset="0"/>
                <a:ea typeface="Arial" pitchFamily="34" charset="-122"/>
                <a:cs typeface="Arial" pitchFamily="34" charset="-120"/>
              </a:rPr>
              <a:t>so ZEALWISH is built to be used, reused, and extended by others.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08  /  LIVE DEMO</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Watch a character become yours.</a:t>
            </a:r>
            <a:endParaRPr lang="en-US" sz="3800" dirty="0"/>
          </a:p>
        </p:txBody>
      </p:sp>
      <p:sp>
        <p:nvSpPr>
          <p:cNvPr id="6" name="Text 4"/>
          <p:cNvSpPr/>
          <p:nvPr/>
        </p:nvSpPr>
        <p:spPr>
          <a:xfrm>
            <a:off x="594360" y="187452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01</a:t>
            </a:r>
            <a:endParaRPr lang="en-US" sz="2200" dirty="0"/>
          </a:p>
        </p:txBody>
      </p:sp>
      <p:sp>
        <p:nvSpPr>
          <p:cNvPr id="7" name="Text 5"/>
          <p:cNvSpPr/>
          <p:nvPr/>
        </p:nvSpPr>
        <p:spPr>
          <a:xfrm>
            <a:off x="594360" y="2331720"/>
            <a:ext cx="1417320" cy="82296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Arial" pitchFamily="34" charset="0"/>
                <a:ea typeface="Arial" pitchFamily="34" charset="-122"/>
                <a:cs typeface="Arial" pitchFamily="34" charset="-120"/>
              </a:rPr>
              <a:t>Create a character</a:t>
            </a:r>
            <a:endParaRPr lang="en-US" sz="1350" dirty="0"/>
          </a:p>
        </p:txBody>
      </p:sp>
      <p:sp>
        <p:nvSpPr>
          <p:cNvPr id="8" name="Text 6"/>
          <p:cNvSpPr/>
          <p:nvPr/>
        </p:nvSpPr>
        <p:spPr>
          <a:xfrm>
            <a:off x="1581912" y="1828800"/>
            <a:ext cx="329184" cy="548640"/>
          </a:xfrm>
          <a:prstGeom prst="rect">
            <a:avLst/>
          </a:prstGeom>
          <a:noFill/>
          <a:ln/>
        </p:spPr>
        <p:txBody>
          <a:bodyPr wrap="square" lIns="0" tIns="0" rIns="0" bIns="0" rtlCol="0" anchor="ctr"/>
          <a:lstStyle/>
          <a:p>
            <a:pPr algn="ctr" indent="0" marL="0">
              <a:buNone/>
            </a:pPr>
            <a:r>
              <a:rPr lang="en-US" sz="1800" dirty="0">
                <a:solidFill>
                  <a:srgbClr val="FF2D2D"/>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2075688" y="187452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02</a:t>
            </a:r>
            <a:endParaRPr lang="en-US" sz="2200" dirty="0"/>
          </a:p>
        </p:txBody>
      </p:sp>
      <p:sp>
        <p:nvSpPr>
          <p:cNvPr id="10" name="Text 8"/>
          <p:cNvSpPr/>
          <p:nvPr/>
        </p:nvSpPr>
        <p:spPr>
          <a:xfrm>
            <a:off x="2075688" y="2331720"/>
            <a:ext cx="1417320" cy="82296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Arial" pitchFamily="34" charset="0"/>
                <a:ea typeface="Arial" pitchFamily="34" charset="-122"/>
                <a:cs typeface="Arial" pitchFamily="34" charset="-120"/>
              </a:rPr>
              <a:t>Talk — it remembers</a:t>
            </a:r>
            <a:endParaRPr lang="en-US" sz="1350" dirty="0"/>
          </a:p>
        </p:txBody>
      </p:sp>
      <p:sp>
        <p:nvSpPr>
          <p:cNvPr id="11" name="Text 9"/>
          <p:cNvSpPr/>
          <p:nvPr/>
        </p:nvSpPr>
        <p:spPr>
          <a:xfrm>
            <a:off x="3063240" y="1828800"/>
            <a:ext cx="329184" cy="548640"/>
          </a:xfrm>
          <a:prstGeom prst="rect">
            <a:avLst/>
          </a:prstGeom>
          <a:noFill/>
          <a:ln/>
        </p:spPr>
        <p:txBody>
          <a:bodyPr wrap="square" lIns="0" tIns="0" rIns="0" bIns="0" rtlCol="0" anchor="ctr"/>
          <a:lstStyle/>
          <a:p>
            <a:pPr algn="ctr" indent="0" marL="0">
              <a:buNone/>
            </a:pPr>
            <a:r>
              <a:rPr lang="en-US" sz="1800" dirty="0">
                <a:solidFill>
                  <a:srgbClr val="FF2D2D"/>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3557016" y="187452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03</a:t>
            </a:r>
            <a:endParaRPr lang="en-US" sz="2200" dirty="0"/>
          </a:p>
        </p:txBody>
      </p:sp>
      <p:sp>
        <p:nvSpPr>
          <p:cNvPr id="13" name="Text 11"/>
          <p:cNvSpPr/>
          <p:nvPr/>
        </p:nvSpPr>
        <p:spPr>
          <a:xfrm>
            <a:off x="3557016" y="2331720"/>
            <a:ext cx="1417320" cy="82296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Arial" pitchFamily="34" charset="0"/>
                <a:ea typeface="Arial" pitchFamily="34" charset="-122"/>
                <a:cs typeface="Arial" pitchFamily="34" charset="-120"/>
              </a:rPr>
              <a:t>Connect wallet</a:t>
            </a:r>
            <a:endParaRPr lang="en-US" sz="1350" dirty="0"/>
          </a:p>
        </p:txBody>
      </p:sp>
      <p:sp>
        <p:nvSpPr>
          <p:cNvPr id="14" name="Text 12"/>
          <p:cNvSpPr/>
          <p:nvPr/>
        </p:nvSpPr>
        <p:spPr>
          <a:xfrm>
            <a:off x="4544568" y="1828800"/>
            <a:ext cx="329184" cy="548640"/>
          </a:xfrm>
          <a:prstGeom prst="rect">
            <a:avLst/>
          </a:prstGeom>
          <a:noFill/>
          <a:ln/>
        </p:spPr>
        <p:txBody>
          <a:bodyPr wrap="square" lIns="0" tIns="0" rIns="0" bIns="0" rtlCol="0" anchor="ctr"/>
          <a:lstStyle/>
          <a:p>
            <a:pPr algn="ctr" indent="0" marL="0">
              <a:buNone/>
            </a:pPr>
            <a:r>
              <a:rPr lang="en-US" sz="1800" dirty="0">
                <a:solidFill>
                  <a:srgbClr val="FF2D2D"/>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5038344" y="1874520"/>
            <a:ext cx="1371600" cy="457200"/>
          </a:xfrm>
          <a:prstGeom prst="rect">
            <a:avLst/>
          </a:prstGeom>
          <a:noFill/>
          <a:ln/>
        </p:spPr>
        <p:txBody>
          <a:bodyPr wrap="square" lIns="0" tIns="0" rIns="0" bIns="0" rtlCol="0" anchor="ctr"/>
          <a:lstStyle/>
          <a:p>
            <a:pPr indent="0" marL="0">
              <a:buNone/>
            </a:pPr>
            <a:r>
              <a:rPr lang="en-US" sz="2200" b="1" dirty="0">
                <a:solidFill>
                  <a:srgbClr val="FF2D2D"/>
                </a:solidFill>
                <a:latin typeface="Courier New" pitchFamily="34" charset="0"/>
                <a:ea typeface="Courier New" pitchFamily="34" charset="-122"/>
                <a:cs typeface="Courier New" pitchFamily="34" charset="-120"/>
              </a:rPr>
              <a:t>04</a:t>
            </a:r>
            <a:endParaRPr lang="en-US" sz="2200" dirty="0"/>
          </a:p>
        </p:txBody>
      </p:sp>
      <p:sp>
        <p:nvSpPr>
          <p:cNvPr id="16" name="Text 14"/>
          <p:cNvSpPr/>
          <p:nvPr/>
        </p:nvSpPr>
        <p:spPr>
          <a:xfrm>
            <a:off x="5038344" y="2331720"/>
            <a:ext cx="1417320" cy="82296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Arial" pitchFamily="34" charset="0"/>
                <a:ea typeface="Arial" pitchFamily="34" charset="-122"/>
                <a:cs typeface="Arial" pitchFamily="34" charset="-120"/>
              </a:rPr>
              <a:t>Claim the passport</a:t>
            </a:r>
            <a:endParaRPr lang="en-US" sz="1350" dirty="0"/>
          </a:p>
        </p:txBody>
      </p:sp>
      <p:sp>
        <p:nvSpPr>
          <p:cNvPr id="17" name="Shape 15"/>
          <p:cNvSpPr/>
          <p:nvPr/>
        </p:nvSpPr>
        <p:spPr>
          <a:xfrm>
            <a:off x="594360" y="3246120"/>
            <a:ext cx="11000232" cy="2377440"/>
          </a:xfrm>
          <a:prstGeom prst="roundRect">
            <a:avLst>
              <a:gd name="adj" fmla="val 1538"/>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pic>
        <p:nvPicPr>
          <p:cNvPr id="18" name="Image 0" descr="/sessions/quirky-peaceful-hypatia/mnt/ZEALWISH/artifacts/screenshots/create-memory.png">    </p:cNvPr>
          <p:cNvPicPr>
            <a:picLocks noChangeAspect="1"/>
          </p:cNvPicPr>
          <p:nvPr/>
        </p:nvPicPr>
        <p:blipFill>
          <a:blip r:embed="rId1"/>
          <a:srcRect l="0" r="0" t="0" b="0"/>
          <a:stretch/>
        </p:blipFill>
        <p:spPr>
          <a:xfrm>
            <a:off x="704088" y="3355848"/>
            <a:ext cx="10780776" cy="2157984"/>
          </a:xfrm>
          <a:prstGeom prst="rect">
            <a:avLst/>
          </a:prstGeom>
        </p:spPr>
      </p:pic>
      <p:sp>
        <p:nvSpPr>
          <p:cNvPr id="19" name="Text 16"/>
          <p:cNvSpPr/>
          <p:nvPr/>
        </p:nvSpPr>
        <p:spPr>
          <a:xfrm>
            <a:off x="594360" y="5897880"/>
            <a:ext cx="10972800" cy="274320"/>
          </a:xfrm>
          <a:prstGeom prst="rect">
            <a:avLst/>
          </a:prstGeom>
          <a:noFill/>
          <a:ln/>
        </p:spPr>
        <p:txBody>
          <a:bodyPr wrap="square" lIns="0" tIns="0" rIns="0" bIns="0" rtlCol="0" anchor="ctr"/>
          <a:lstStyle/>
          <a:p>
            <a:pPr algn="ctr" indent="0" marL="0">
              <a:buNone/>
            </a:pPr>
            <a:r>
              <a:rPr lang="en-US" sz="1200" b="1" spc="200" kern="0" dirty="0">
                <a:solidFill>
                  <a:srgbClr val="FF2D2D"/>
                </a:solidFill>
                <a:latin typeface="Courier New" pitchFamily="34" charset="0"/>
                <a:ea typeface="Courier New" pitchFamily="34" charset="-122"/>
                <a:cs typeface="Courier New" pitchFamily="34" charset="-120"/>
              </a:rPr>
              <a:t>LIVE, ON THIS STAGE.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09  /  MARKET</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A category growing 30% a year.</a:t>
            </a:r>
            <a:endParaRPr lang="en-US" sz="3800" dirty="0"/>
          </a:p>
        </p:txBody>
      </p:sp>
      <p:graphicFrame>
        <p:nvGraphicFramePr>
          <p:cNvPr id="6" name="Chart 0" descr=""/>
          <p:cNvGraphicFramePr/>
          <p:nvPr/>
        </p:nvGraphicFramePr>
        <p:xfrm>
          <a:off x="594360" y="182880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828800"/>
            <a:ext cx="4160520" cy="3566160"/>
          </a:xfrm>
          <a:prstGeom prst="roundRect">
            <a:avLst>
              <a:gd name="adj" fmla="val 1538"/>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8" name="Text 5"/>
          <p:cNvSpPr/>
          <p:nvPr/>
        </p:nvSpPr>
        <p:spPr>
          <a:xfrm>
            <a:off x="7680960" y="2057400"/>
            <a:ext cx="3749040" cy="502920"/>
          </a:xfrm>
          <a:prstGeom prst="rect">
            <a:avLst/>
          </a:prstGeom>
          <a:noFill/>
          <a:ln/>
        </p:spPr>
        <p:txBody>
          <a:bodyPr wrap="square" lIns="0" tIns="0" rIns="0" bIns="0" rtlCol="0" anchor="ctr"/>
          <a:lstStyle/>
          <a:p>
            <a:pPr indent="0" marL="0">
              <a:buNone/>
            </a:pPr>
            <a:r>
              <a:rPr lang="en-US" sz="2700" b="1" dirty="0">
                <a:solidFill>
                  <a:srgbClr val="FF2D2D"/>
                </a:solidFill>
                <a:latin typeface="Arial" pitchFamily="34" charset="0"/>
                <a:ea typeface="Arial" pitchFamily="34" charset="-122"/>
                <a:cs typeface="Arial" pitchFamily="34" charset="-120"/>
              </a:rPr>
              <a:t>$28.2B → $140.8B</a:t>
            </a:r>
            <a:endParaRPr lang="en-US" sz="2700" dirty="0"/>
          </a:p>
        </p:txBody>
      </p:sp>
      <p:sp>
        <p:nvSpPr>
          <p:cNvPr id="9" name="Text 6"/>
          <p:cNvSpPr/>
          <p:nvPr/>
        </p:nvSpPr>
        <p:spPr>
          <a:xfrm>
            <a:off x="7680960" y="2578608"/>
            <a:ext cx="3749040" cy="320040"/>
          </a:xfrm>
          <a:prstGeom prst="rect">
            <a:avLst/>
          </a:prstGeom>
          <a:noFill/>
          <a:ln/>
        </p:spPr>
        <p:txBody>
          <a:bodyPr wrap="square" lIns="0" tIns="0" rIns="0" bIns="0" rtlCol="0" anchor="ctr"/>
          <a:lstStyle/>
          <a:p>
            <a:pPr indent="0" marL="0">
              <a:buNone/>
            </a:pPr>
            <a:r>
              <a:rPr lang="en-US" sz="1250" dirty="0">
                <a:solidFill>
                  <a:srgbClr val="A6A6AE"/>
                </a:solidFill>
                <a:latin typeface="Arial" pitchFamily="34" charset="0"/>
                <a:ea typeface="Arial" pitchFamily="34" charset="-122"/>
                <a:cs typeface="Arial" pitchFamily="34" charset="-120"/>
              </a:rPr>
              <a:t>Global AI companion market, 2024 → 2030</a:t>
            </a:r>
            <a:endParaRPr lang="en-US" sz="1250" dirty="0"/>
          </a:p>
        </p:txBody>
      </p:sp>
      <p:sp>
        <p:nvSpPr>
          <p:cNvPr id="10" name="Text 7"/>
          <p:cNvSpPr/>
          <p:nvPr/>
        </p:nvSpPr>
        <p:spPr>
          <a:xfrm>
            <a:off x="7680960" y="3063240"/>
            <a:ext cx="3749040" cy="45720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30.8%</a:t>
            </a:r>
            <a:endParaRPr lang="en-US" sz="2700" dirty="0"/>
          </a:p>
        </p:txBody>
      </p:sp>
      <p:sp>
        <p:nvSpPr>
          <p:cNvPr id="11" name="Text 8"/>
          <p:cNvSpPr/>
          <p:nvPr/>
        </p:nvSpPr>
        <p:spPr>
          <a:xfrm>
            <a:off x="7680960" y="3566160"/>
            <a:ext cx="3749040" cy="320040"/>
          </a:xfrm>
          <a:prstGeom prst="rect">
            <a:avLst/>
          </a:prstGeom>
          <a:noFill/>
          <a:ln/>
        </p:spPr>
        <p:txBody>
          <a:bodyPr wrap="square" lIns="0" tIns="0" rIns="0" bIns="0" rtlCol="0" anchor="ctr"/>
          <a:lstStyle/>
          <a:p>
            <a:pPr indent="0" marL="0">
              <a:buNone/>
            </a:pPr>
            <a:r>
              <a:rPr lang="en-US" sz="1250" dirty="0">
                <a:solidFill>
                  <a:srgbClr val="A6A6AE"/>
                </a:solidFill>
                <a:latin typeface="Arial" pitchFamily="34" charset="0"/>
                <a:ea typeface="Arial" pitchFamily="34" charset="-122"/>
                <a:cs typeface="Arial" pitchFamily="34" charset="-120"/>
              </a:rPr>
              <a:t>CAGR (2025–2030)</a:t>
            </a:r>
            <a:endParaRPr lang="en-US" sz="1250" dirty="0"/>
          </a:p>
        </p:txBody>
      </p:sp>
      <p:sp>
        <p:nvSpPr>
          <p:cNvPr id="12" name="Text 9"/>
          <p:cNvSpPr/>
          <p:nvPr/>
        </p:nvSpPr>
        <p:spPr>
          <a:xfrm>
            <a:off x="7680960" y="4069080"/>
            <a:ext cx="3749040" cy="1097280"/>
          </a:xfrm>
          <a:prstGeom prst="rect">
            <a:avLst/>
          </a:prstGeom>
          <a:noFill/>
          <a:ln/>
        </p:spPr>
        <p:txBody>
          <a:bodyPr wrap="square" lIns="0" tIns="0" rIns="0" bIns="0" rtlCol="0" anchor="ctr"/>
          <a:lstStyle/>
          <a:p>
            <a:pPr indent="0" marL="0">
              <a:lnSpc>
                <a:spcPct val="115000"/>
              </a:lnSpc>
              <a:buNone/>
            </a:pPr>
            <a:r>
              <a:rPr lang="en-US" sz="1300" b="1" dirty="0">
                <a:solidFill>
                  <a:srgbClr val="FF2D2D"/>
                </a:solidFill>
                <a:latin typeface="Arial" pitchFamily="34" charset="0"/>
                <a:ea typeface="Arial" pitchFamily="34" charset="-122"/>
                <a:cs typeface="Arial" pitchFamily="34" charset="-120"/>
              </a:rPr>
              <a:t>Wedge: </a:t>
            </a:r>
            <a:pPr indent="0" marL="0">
              <a:lnSpc>
                <a:spcPct val="115000"/>
              </a:lnSpc>
              <a:buNone/>
            </a:pPr>
            <a:r>
              <a:rPr lang="en-US" sz="1300" dirty="0">
                <a:solidFill>
                  <a:srgbClr val="A6A6AE"/>
                </a:solidFill>
                <a:latin typeface="Arial" pitchFamily="34" charset="0"/>
                <a:ea typeface="Arial" pitchFamily="34" charset="-122"/>
                <a:cs typeface="Arial" pitchFamily="34" charset="-120"/>
              </a:rPr>
              <a:t>companion users who want ownership, plus creators, collectors, and agent developers who need a portable character.</a:t>
            </a:r>
            <a:endParaRPr lang="en-US" sz="1300" dirty="0"/>
          </a:p>
        </p:txBody>
      </p:sp>
      <p:sp>
        <p:nvSpPr>
          <p:cNvPr id="13" name="Text 10"/>
          <p:cNvSpPr/>
          <p:nvPr/>
        </p:nvSpPr>
        <p:spPr>
          <a:xfrm>
            <a:off x="594360" y="5715000"/>
            <a:ext cx="10972800" cy="274320"/>
          </a:xfrm>
          <a:prstGeom prst="rect">
            <a:avLst/>
          </a:prstGeom>
          <a:noFill/>
          <a:ln/>
        </p:spPr>
        <p:txBody>
          <a:bodyPr wrap="square" lIns="0" tIns="0" rIns="0" bIns="0" rtlCol="0" anchor="ctr"/>
          <a:lstStyle/>
          <a:p>
            <a:pPr indent="0" marL="0">
              <a:buNone/>
            </a:pPr>
            <a:r>
              <a:rPr lang="en-US" sz="900" dirty="0">
                <a:solidFill>
                  <a:srgbClr val="6C6C75"/>
                </a:solidFill>
                <a:latin typeface="Courier New" pitchFamily="34" charset="0"/>
                <a:ea typeface="Courier New" pitchFamily="34" charset="-122"/>
                <a:cs typeface="Courier New" pitchFamily="34" charset="-120"/>
              </a:rPr>
              <a:t>Source: Grand View Research, AI Companion Market (2024 base, 2030 forecast).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10  /  STATUS</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Where we are — and the next 90 days.</a:t>
            </a:r>
            <a:endParaRPr lang="en-US" sz="3800" dirty="0"/>
          </a:p>
        </p:txBody>
      </p:sp>
      <p:sp>
        <p:nvSpPr>
          <p:cNvPr id="6" name="Shape 4"/>
          <p:cNvSpPr/>
          <p:nvPr/>
        </p:nvSpPr>
        <p:spPr>
          <a:xfrm>
            <a:off x="594360" y="1828800"/>
            <a:ext cx="5349240" cy="3611880"/>
          </a:xfrm>
          <a:prstGeom prst="roundRect">
            <a:avLst>
              <a:gd name="adj" fmla="val 1519"/>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868680" y="2011680"/>
            <a:ext cx="4572000" cy="274320"/>
          </a:xfrm>
          <a:prstGeom prst="rect">
            <a:avLst/>
          </a:prstGeom>
          <a:noFill/>
          <a:ln/>
        </p:spPr>
        <p:txBody>
          <a:bodyPr wrap="square" lIns="0" tIns="0" rIns="0" bIns="0" rtlCol="0" anchor="ctr"/>
          <a:lstStyle/>
          <a:p>
            <a:pPr indent="0" marL="0">
              <a:buNone/>
            </a:pPr>
            <a:r>
              <a:rPr lang="en-US" sz="1200" b="1" spc="200" kern="0" dirty="0">
                <a:solidFill>
                  <a:srgbClr val="FF2D2D"/>
                </a:solidFill>
                <a:latin typeface="Courier New" pitchFamily="34" charset="0"/>
                <a:ea typeface="Courier New" pitchFamily="34" charset="-122"/>
                <a:cs typeface="Courier New" pitchFamily="34" charset="-120"/>
              </a:rPr>
              <a:t>BUILT</a:t>
            </a:r>
            <a:endParaRPr lang="en-US" sz="1200" dirty="0"/>
          </a:p>
        </p:txBody>
      </p:sp>
      <p:sp>
        <p:nvSpPr>
          <p:cNvPr id="8" name="Text 6"/>
          <p:cNvSpPr/>
          <p:nvPr/>
        </p:nvSpPr>
        <p:spPr>
          <a:xfrm>
            <a:off x="868680" y="2377440"/>
            <a:ext cx="4846320" cy="2834640"/>
          </a:xfrm>
          <a:prstGeom prst="rect">
            <a:avLst/>
          </a:prstGeom>
          <a:noFill/>
          <a:ln/>
        </p:spPr>
        <p:txBody>
          <a:bodyPr wrap="square" lIns="0" tIns="0" rIns="0" bIns="0" rtlCol="0" anchor="ctr"/>
          <a:lstStyle/>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Working desktop + web app</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Memory engine + voice (ASR/TTS) live</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OKX wallet connect live</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8 active dev branches, 22 automated tests</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Open-source repository</a:t>
            </a:r>
            <a:endParaRPr lang="en-US" sz="1500" dirty="0"/>
          </a:p>
        </p:txBody>
      </p:sp>
      <p:sp>
        <p:nvSpPr>
          <p:cNvPr id="9" name="Shape 7"/>
          <p:cNvSpPr/>
          <p:nvPr/>
        </p:nvSpPr>
        <p:spPr>
          <a:xfrm>
            <a:off x="6263640" y="1828800"/>
            <a:ext cx="5349240" cy="3611880"/>
          </a:xfrm>
          <a:prstGeom prst="roundRect">
            <a:avLst>
              <a:gd name="adj" fmla="val 1519"/>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0" name="Text 8"/>
          <p:cNvSpPr/>
          <p:nvPr/>
        </p:nvSpPr>
        <p:spPr>
          <a:xfrm>
            <a:off x="6537960" y="2011680"/>
            <a:ext cx="4572000" cy="274320"/>
          </a:xfrm>
          <a:prstGeom prst="rect">
            <a:avLst/>
          </a:prstGeom>
          <a:noFill/>
          <a:ln/>
        </p:spPr>
        <p:txBody>
          <a:bodyPr wrap="square" lIns="0" tIns="0" rIns="0" bIns="0" rtlCol="0" anchor="ctr"/>
          <a:lstStyle/>
          <a:p>
            <a:pPr indent="0" marL="0">
              <a:buNone/>
            </a:pPr>
            <a:r>
              <a:rPr lang="en-US" sz="1200" b="1" spc="200" kern="0" dirty="0">
                <a:solidFill>
                  <a:srgbClr val="FF2D2D"/>
                </a:solidFill>
                <a:latin typeface="Courier New" pitchFamily="34" charset="0"/>
                <a:ea typeface="Courier New" pitchFamily="34" charset="-122"/>
                <a:cs typeface="Courier New" pitchFamily="34" charset="-120"/>
              </a:rPr>
              <a:t>NEXT 90 DAYS</a:t>
            </a:r>
            <a:endParaRPr lang="en-US" sz="1200" dirty="0"/>
          </a:p>
        </p:txBody>
      </p:sp>
      <p:sp>
        <p:nvSpPr>
          <p:cNvPr id="11" name="Text 9"/>
          <p:cNvSpPr/>
          <p:nvPr/>
        </p:nvSpPr>
        <p:spPr>
          <a:xfrm>
            <a:off x="6537960" y="2377440"/>
            <a:ext cx="4846320" cy="2834640"/>
          </a:xfrm>
          <a:prstGeom prst="rect">
            <a:avLst/>
          </a:prstGeom>
          <a:noFill/>
          <a:ln/>
        </p:spPr>
        <p:txBody>
          <a:bodyPr wrap="square" lIns="0" tIns="0" rIns="0" bIns="0" rtlCol="0" anchor="ctr"/>
          <a:lstStyle/>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Ship character passport (mint v1)</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Public demo URL + onboarding</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First 100 wallet-owned characters</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Open SDK alpha + 3 partner integrations</a:t>
            </a:r>
            <a:endParaRPr lang="en-US" sz="1500" dirty="0"/>
          </a:p>
          <a:p>
            <a:pPr marL="342900" indent="-342900">
              <a:lnSpc>
                <a:spcPct val="115000"/>
              </a:lnSpc>
              <a:spcAft>
                <a:spcPts val="1100"/>
              </a:spcAft>
              <a:buSzPct val="100000"/>
              <a:buChar char="→"/>
            </a:pPr>
            <a:r>
              <a:rPr lang="en-US" sz="1500" dirty="0">
                <a:solidFill>
                  <a:srgbClr val="FFFFFF"/>
                </a:solidFill>
                <a:latin typeface="Arial" pitchFamily="34" charset="0"/>
                <a:ea typeface="Arial" pitchFamily="34" charset="-122"/>
                <a:cs typeface="Arial" pitchFamily="34" charset="-120"/>
              </a:rPr>
              <a:t>Creator skin / personality marketplace beta</a:t>
            </a:r>
            <a:endParaRPr lang="en-US" sz="1500" dirty="0"/>
          </a:p>
        </p:txBody>
      </p:sp>
      <p:sp>
        <p:nvSpPr>
          <p:cNvPr id="12" name="Text 10"/>
          <p:cNvSpPr/>
          <p:nvPr/>
        </p:nvSpPr>
        <p:spPr>
          <a:xfrm>
            <a:off x="594360" y="5669280"/>
            <a:ext cx="10972800" cy="274320"/>
          </a:xfrm>
          <a:prstGeom prst="rect">
            <a:avLst/>
          </a:prstGeom>
          <a:noFill/>
          <a:ln/>
        </p:spPr>
        <p:txBody>
          <a:bodyPr wrap="square" lIns="0" tIns="0" rIns="0" bIns="0" rtlCol="0" anchor="ctr"/>
          <a:lstStyle/>
          <a:p>
            <a:pPr algn="ctr" indent="0" marL="0">
              <a:buNone/>
            </a:pPr>
            <a:r>
              <a:rPr lang="en-US" sz="1100" dirty="0">
                <a:solidFill>
                  <a:srgbClr val="A6A6AE"/>
                </a:solidFill>
                <a:latin typeface="Courier New" pitchFamily="34" charset="0"/>
                <a:ea typeface="Courier New" pitchFamily="34" charset="-122"/>
                <a:cs typeface="Courier New" pitchFamily="34" charset="-120"/>
              </a:rPr>
              <a:t>Built in the open at github.com/KINGKAZMAX/ZEALWISH-WEB</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45720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11  /  WHY WE WIN</a:t>
            </a:r>
            <a:endParaRPr lang="en-US" sz="1200" dirty="0"/>
          </a:p>
        </p:txBody>
      </p:sp>
      <p:sp>
        <p:nvSpPr>
          <p:cNvPr id="3" name="Text 1"/>
          <p:cNvSpPr/>
          <p:nvPr/>
        </p:nvSpPr>
        <p:spPr>
          <a:xfrm>
            <a:off x="594360" y="6455664"/>
            <a:ext cx="3657600" cy="274320"/>
          </a:xfrm>
          <a:prstGeom prst="rect">
            <a:avLst/>
          </a:prstGeom>
          <a:noFill/>
          <a:ln/>
        </p:spPr>
        <p:txBody>
          <a:bodyPr wrap="square" lIns="0" tIns="0" rIns="0" bIns="0" rtlCol="0" anchor="ctr"/>
          <a:lstStyle/>
          <a:p>
            <a:pPr indent="0" marL="0">
              <a:buNone/>
            </a:pPr>
            <a:r>
              <a:rPr lang="en-US" sz="900" spc="200" kern="0" dirty="0">
                <a:solidFill>
                  <a:srgbClr val="6C6C75"/>
                </a:solidFill>
                <a:latin typeface="Courier New" pitchFamily="34" charset="0"/>
                <a:ea typeface="Courier New" pitchFamily="34" charset="-122"/>
                <a:cs typeface="Courier New" pitchFamily="34" charset="-120"/>
              </a:rPr>
              <a:t>ZEALWISH</a:t>
            </a:r>
            <a:endParaRPr lang="en-US" sz="900" dirty="0"/>
          </a:p>
        </p:txBody>
      </p:sp>
      <p:sp>
        <p:nvSpPr>
          <p:cNvPr id="4" name="Text 2"/>
          <p:cNvSpPr/>
          <p:nvPr/>
        </p:nvSpPr>
        <p:spPr>
          <a:xfrm>
            <a:off x="5650992" y="6455664"/>
            <a:ext cx="5943600" cy="274320"/>
          </a:xfrm>
          <a:prstGeom prst="rect">
            <a:avLst/>
          </a:prstGeom>
          <a:noFill/>
          <a:ln/>
        </p:spPr>
        <p:txBody>
          <a:bodyPr wrap="square" lIns="0" tIns="0" rIns="0" bIns="0" rtlCol="0" anchor="ctr"/>
          <a:lstStyle/>
          <a:p>
            <a:pPr algn="r" indent="0" marL="0">
              <a:buNone/>
            </a:pPr>
            <a:r>
              <a:rPr lang="en-US" sz="900" spc="100" kern="0" dirty="0">
                <a:solidFill>
                  <a:srgbClr val="6C6C75"/>
                </a:solidFill>
                <a:latin typeface="Courier New" pitchFamily="34" charset="0"/>
                <a:ea typeface="Courier New" pitchFamily="34" charset="-122"/>
                <a:cs typeface="Courier New" pitchFamily="34" charset="-120"/>
              </a:rPr>
              <a:t>UCWS SINGAPORE 2026  /  NO RULES. JUST CREATE.</a:t>
            </a:r>
            <a:endParaRPr lang="en-US" sz="900" dirty="0"/>
          </a:p>
        </p:txBody>
      </p:sp>
      <p:sp>
        <p:nvSpPr>
          <p:cNvPr id="5" name="Text 3"/>
          <p:cNvSpPr/>
          <p:nvPr/>
        </p:nvSpPr>
        <p:spPr>
          <a:xfrm>
            <a:off x="594360" y="786384"/>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Ownership is a moat you can't copy.</a:t>
            </a:r>
            <a:endParaRPr lang="en-US" sz="3800" dirty="0"/>
          </a:p>
        </p:txBody>
      </p:sp>
      <p:sp>
        <p:nvSpPr>
          <p:cNvPr id="6" name="Shape 4"/>
          <p:cNvSpPr/>
          <p:nvPr/>
        </p:nvSpPr>
        <p:spPr>
          <a:xfrm>
            <a:off x="594360"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7" name="Text 5"/>
          <p:cNvSpPr/>
          <p:nvPr/>
        </p:nvSpPr>
        <p:spPr>
          <a:xfrm>
            <a:off x="822960" y="2029968"/>
            <a:ext cx="1371600" cy="411480"/>
          </a:xfrm>
          <a:prstGeom prst="rect">
            <a:avLst/>
          </a:prstGeom>
          <a:noFill/>
          <a:ln/>
        </p:spPr>
        <p:txBody>
          <a:bodyPr wrap="square" lIns="0" tIns="0" rIns="0" bIns="0" rtlCol="0" anchor="ctr"/>
          <a:lstStyle/>
          <a:p>
            <a:pPr indent="0" marL="0">
              <a:buNone/>
            </a:pPr>
            <a:r>
              <a:rPr lang="en-US" sz="1800" b="1" dirty="0">
                <a:solidFill>
                  <a:srgbClr val="FF2D2D"/>
                </a:solidFill>
                <a:latin typeface="Courier New" pitchFamily="34" charset="0"/>
                <a:ea typeface="Courier New" pitchFamily="34" charset="-122"/>
                <a:cs typeface="Courier New" pitchFamily="34" charset="-120"/>
              </a:rPr>
              <a:t>01</a:t>
            </a:r>
            <a:endParaRPr lang="en-US" sz="1800" dirty="0"/>
          </a:p>
        </p:txBody>
      </p:sp>
      <p:sp>
        <p:nvSpPr>
          <p:cNvPr id="8" name="Text 6"/>
          <p:cNvSpPr/>
          <p:nvPr/>
        </p:nvSpPr>
        <p:spPr>
          <a:xfrm>
            <a:off x="822960" y="2468880"/>
            <a:ext cx="30632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Trust</a:t>
            </a:r>
            <a:endParaRPr lang="en-US" sz="1900" dirty="0"/>
          </a:p>
        </p:txBody>
      </p:sp>
      <p:sp>
        <p:nvSpPr>
          <p:cNvPr id="9" name="Text 7"/>
          <p:cNvSpPr/>
          <p:nvPr/>
        </p:nvSpPr>
        <p:spPr>
          <a:xfrm>
            <a:off x="822960" y="2971800"/>
            <a:ext cx="3063240" cy="1463040"/>
          </a:xfrm>
          <a:prstGeom prst="rect">
            <a:avLst/>
          </a:prstGeom>
          <a:noFill/>
          <a:ln/>
        </p:spPr>
        <p:txBody>
          <a:bodyPr wrap="square" lIns="0" tIns="0" rIns="0" bIns="0" rtlCol="0" anchor="ctr"/>
          <a:lstStyle/>
          <a:p>
            <a:pPr indent="0" marL="0">
              <a:lnSpc>
                <a:spcPct val="118000"/>
              </a:lnSpc>
              <a:buNone/>
            </a:pPr>
            <a:r>
              <a:rPr lang="en-US" sz="1300" dirty="0">
                <a:solidFill>
                  <a:srgbClr val="A6A6AE"/>
                </a:solidFill>
                <a:latin typeface="Arial" pitchFamily="34" charset="0"/>
                <a:ea typeface="Arial" pitchFamily="34" charset="-122"/>
                <a:cs typeface="Arial" pitchFamily="34" charset="-120"/>
              </a:rPr>
              <a:t>Local-first and user-owned. We turn Character.AI's biggest liability — data lock-in — into our default.</a:t>
            </a:r>
            <a:endParaRPr lang="en-US" sz="1300" dirty="0"/>
          </a:p>
        </p:txBody>
      </p:sp>
      <p:sp>
        <p:nvSpPr>
          <p:cNvPr id="10" name="Shape 8"/>
          <p:cNvSpPr/>
          <p:nvPr/>
        </p:nvSpPr>
        <p:spPr>
          <a:xfrm>
            <a:off x="4288536"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1" name="Text 9"/>
          <p:cNvSpPr/>
          <p:nvPr/>
        </p:nvSpPr>
        <p:spPr>
          <a:xfrm>
            <a:off x="4517136" y="2029968"/>
            <a:ext cx="1371600" cy="411480"/>
          </a:xfrm>
          <a:prstGeom prst="rect">
            <a:avLst/>
          </a:prstGeom>
          <a:noFill/>
          <a:ln/>
        </p:spPr>
        <p:txBody>
          <a:bodyPr wrap="square" lIns="0" tIns="0" rIns="0" bIns="0" rtlCol="0" anchor="ctr"/>
          <a:lstStyle/>
          <a:p>
            <a:pPr indent="0" marL="0">
              <a:buNone/>
            </a:pPr>
            <a:r>
              <a:rPr lang="en-US" sz="1800" b="1" dirty="0">
                <a:solidFill>
                  <a:srgbClr val="FF2D2D"/>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4517136" y="2468880"/>
            <a:ext cx="30632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Network effects</a:t>
            </a:r>
            <a:endParaRPr lang="en-US" sz="1900" dirty="0"/>
          </a:p>
        </p:txBody>
      </p:sp>
      <p:sp>
        <p:nvSpPr>
          <p:cNvPr id="13" name="Text 11"/>
          <p:cNvSpPr/>
          <p:nvPr/>
        </p:nvSpPr>
        <p:spPr>
          <a:xfrm>
            <a:off x="4517136" y="2971800"/>
            <a:ext cx="3063240" cy="1463040"/>
          </a:xfrm>
          <a:prstGeom prst="rect">
            <a:avLst/>
          </a:prstGeom>
          <a:noFill/>
          <a:ln/>
        </p:spPr>
        <p:txBody>
          <a:bodyPr wrap="square" lIns="0" tIns="0" rIns="0" bIns="0" rtlCol="0" anchor="ctr"/>
          <a:lstStyle/>
          <a:p>
            <a:pPr indent="0" marL="0">
              <a:lnSpc>
                <a:spcPct val="118000"/>
              </a:lnSpc>
              <a:buNone/>
            </a:pPr>
            <a:r>
              <a:rPr lang="en-US" sz="1300" dirty="0">
                <a:solidFill>
                  <a:srgbClr val="A6A6AE"/>
                </a:solidFill>
                <a:latin typeface="Arial" pitchFamily="34" charset="0"/>
                <a:ea typeface="Arial" pitchFamily="34" charset="-122"/>
                <a:cs typeface="Arial" pitchFamily="34" charset="-120"/>
              </a:rPr>
              <a:t>A portable passport gets more valuable with every new world that reads it. Incumbents can't open up without breaking their model.</a:t>
            </a:r>
            <a:endParaRPr lang="en-US" sz="1300" dirty="0"/>
          </a:p>
        </p:txBody>
      </p:sp>
      <p:sp>
        <p:nvSpPr>
          <p:cNvPr id="14" name="Shape 12"/>
          <p:cNvSpPr/>
          <p:nvPr/>
        </p:nvSpPr>
        <p:spPr>
          <a:xfrm>
            <a:off x="7982712" y="1828800"/>
            <a:ext cx="3474720" cy="2697480"/>
          </a:xfrm>
          <a:prstGeom prst="roundRect">
            <a:avLst>
              <a:gd name="adj" fmla="val 2034"/>
            </a:avLst>
          </a:prstGeom>
          <a:solidFill>
            <a:srgbClr val="141417"/>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5" name="Text 13"/>
          <p:cNvSpPr/>
          <p:nvPr/>
        </p:nvSpPr>
        <p:spPr>
          <a:xfrm>
            <a:off x="8211312" y="2029968"/>
            <a:ext cx="1371600" cy="411480"/>
          </a:xfrm>
          <a:prstGeom prst="rect">
            <a:avLst/>
          </a:prstGeom>
          <a:noFill/>
          <a:ln/>
        </p:spPr>
        <p:txBody>
          <a:bodyPr wrap="square" lIns="0" tIns="0" rIns="0" bIns="0" rtlCol="0" anchor="ctr"/>
          <a:lstStyle/>
          <a:p>
            <a:pPr indent="0" marL="0">
              <a:buNone/>
            </a:pPr>
            <a:r>
              <a:rPr lang="en-US" sz="1800" b="1" dirty="0">
                <a:solidFill>
                  <a:srgbClr val="FF2D2D"/>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8211312" y="2468880"/>
            <a:ext cx="306324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Creator economy</a:t>
            </a:r>
            <a:endParaRPr lang="en-US" sz="1900" dirty="0"/>
          </a:p>
        </p:txBody>
      </p:sp>
      <p:sp>
        <p:nvSpPr>
          <p:cNvPr id="17" name="Text 15"/>
          <p:cNvSpPr/>
          <p:nvPr/>
        </p:nvSpPr>
        <p:spPr>
          <a:xfrm>
            <a:off x="8211312" y="2971800"/>
            <a:ext cx="3063240" cy="1463040"/>
          </a:xfrm>
          <a:prstGeom prst="rect">
            <a:avLst/>
          </a:prstGeom>
          <a:noFill/>
          <a:ln/>
        </p:spPr>
        <p:txBody>
          <a:bodyPr wrap="square" lIns="0" tIns="0" rIns="0" bIns="0" rtlCol="0" anchor="ctr"/>
          <a:lstStyle/>
          <a:p>
            <a:pPr indent="0" marL="0">
              <a:lnSpc>
                <a:spcPct val="118000"/>
              </a:lnSpc>
              <a:buNone/>
            </a:pPr>
            <a:r>
              <a:rPr lang="en-US" sz="1300" dirty="0">
                <a:solidFill>
                  <a:srgbClr val="A6A6AE"/>
                </a:solidFill>
                <a:latin typeface="Arial" pitchFamily="34" charset="0"/>
                <a:ea typeface="Arial" pitchFamily="34" charset="-122"/>
                <a:cs typeface="Arial" pitchFamily="34" charset="-120"/>
              </a:rPr>
              <a:t>Skins, personalities, and worlds on an open marketplace — supply that compounds.</a:t>
            </a:r>
            <a:endParaRPr lang="en-US" sz="1300" dirty="0"/>
          </a:p>
        </p:txBody>
      </p:sp>
      <p:sp>
        <p:nvSpPr>
          <p:cNvPr id="18" name="Text 16"/>
          <p:cNvSpPr/>
          <p:nvPr/>
        </p:nvSpPr>
        <p:spPr>
          <a:xfrm>
            <a:off x="594360" y="4983480"/>
            <a:ext cx="10972800" cy="457200"/>
          </a:xfrm>
          <a:prstGeom prst="rect">
            <a:avLst/>
          </a:prstGeom>
          <a:noFill/>
          <a:ln/>
        </p:spPr>
        <p:txBody>
          <a:bodyPr wrap="square" lIns="0" tIns="0" rIns="0" bIns="0" rtlCol="0" anchor="ctr"/>
          <a:lstStyle/>
          <a:p>
            <a:pPr algn="ctr" indent="0" marL="0">
              <a:buNone/>
            </a:pPr>
            <a:r>
              <a:rPr lang="en-US" sz="1700" b="1" dirty="0">
                <a:solidFill>
                  <a:srgbClr val="FF2D2D"/>
                </a:solidFill>
                <a:latin typeface="Arial" pitchFamily="34" charset="0"/>
                <a:ea typeface="Arial" pitchFamily="34" charset="-122"/>
                <a:cs typeface="Arial" pitchFamily="34" charset="-120"/>
              </a:rPr>
              <a:t>Model:  </a:t>
            </a:r>
            <a:pPr algn="ctr" indent="0" marL="0">
              <a:buNone/>
            </a:pPr>
            <a:r>
              <a:rPr lang="en-US" sz="1700" dirty="0">
                <a:solidFill>
                  <a:srgbClr val="FFFFFF"/>
                </a:solidFill>
                <a:latin typeface="Arial" pitchFamily="34" charset="0"/>
                <a:ea typeface="Arial" pitchFamily="34" charset="-122"/>
                <a:cs typeface="Arial" pitchFamily="34" charset="-120"/>
              </a:rPr>
              <a:t>open core  +  creator marketplace  +  passport services.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94360" y="640080"/>
            <a:ext cx="9144000" cy="274320"/>
          </a:xfrm>
          <a:prstGeom prst="rect">
            <a:avLst/>
          </a:prstGeom>
          <a:noFill/>
          <a:ln/>
        </p:spPr>
        <p:txBody>
          <a:bodyPr wrap="square" lIns="0" tIns="0" rIns="0" bIns="0" rtlCol="0" anchor="ctr"/>
          <a:lstStyle/>
          <a:p>
            <a:pPr indent="0" marL="0">
              <a:buNone/>
            </a:pPr>
            <a:r>
              <a:rPr lang="en-US" sz="1200" b="1" spc="300" kern="0" dirty="0">
                <a:solidFill>
                  <a:srgbClr val="FF2D2D"/>
                </a:solidFill>
                <a:latin typeface="Courier New" pitchFamily="34" charset="0"/>
                <a:ea typeface="Courier New" pitchFamily="34" charset="-122"/>
                <a:cs typeface="Courier New" pitchFamily="34" charset="-120"/>
              </a:rPr>
              <a:t>12  /  THE ASK</a:t>
            </a:r>
            <a:endParaRPr lang="en-US" sz="1200" dirty="0"/>
          </a:p>
        </p:txBody>
      </p:sp>
      <p:sp>
        <p:nvSpPr>
          <p:cNvPr id="3" name="Text 1"/>
          <p:cNvSpPr/>
          <p:nvPr/>
        </p:nvSpPr>
        <p:spPr>
          <a:xfrm>
            <a:off x="594360" y="1371600"/>
            <a:ext cx="10972800" cy="10972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Your AI. Your memory. </a:t>
            </a:r>
            <a:pPr indent="0" marL="0">
              <a:buNone/>
            </a:pPr>
            <a:r>
              <a:rPr lang="en-US" sz="5200" b="1" dirty="0">
                <a:solidFill>
                  <a:srgbClr val="FF2D2D"/>
                </a:solidFill>
                <a:latin typeface="Arial" pitchFamily="34" charset="0"/>
                <a:ea typeface="Arial" pitchFamily="34" charset="-122"/>
                <a:cs typeface="Arial" pitchFamily="34" charset="-120"/>
              </a:rPr>
              <a:t>Your will.</a:t>
            </a:r>
            <a:endParaRPr lang="en-US" sz="5200" dirty="0"/>
          </a:p>
        </p:txBody>
      </p:sp>
      <p:sp>
        <p:nvSpPr>
          <p:cNvPr id="4" name="Text 2"/>
          <p:cNvSpPr/>
          <p:nvPr/>
        </p:nvSpPr>
        <p:spPr>
          <a:xfrm>
            <a:off x="594360" y="2697480"/>
            <a:ext cx="10515600" cy="548640"/>
          </a:xfrm>
          <a:prstGeom prst="rect">
            <a:avLst/>
          </a:prstGeom>
          <a:noFill/>
          <a:ln/>
        </p:spPr>
        <p:txBody>
          <a:bodyPr wrap="square" lIns="0" tIns="0" rIns="0" bIns="0" rtlCol="0" anchor="ctr"/>
          <a:lstStyle/>
          <a:p>
            <a:pPr indent="0" marL="0">
              <a:buNone/>
            </a:pPr>
            <a:r>
              <a:rPr lang="en-US" sz="1800" dirty="0">
                <a:solidFill>
                  <a:srgbClr val="A6A6AE"/>
                </a:solidFill>
                <a:latin typeface="Arial" pitchFamily="34" charset="0"/>
                <a:ea typeface="Arial" pitchFamily="34" charset="-122"/>
                <a:cs typeface="Arial" pitchFamily="34" charset="-120"/>
              </a:rPr>
              <a:t>ZEALWISH — open-source, wallet-owned AI characters with a portable memory passport.</a:t>
            </a:r>
            <a:endParaRPr lang="en-US" sz="1800" dirty="0"/>
          </a:p>
        </p:txBody>
      </p:sp>
      <p:sp>
        <p:nvSpPr>
          <p:cNvPr id="5" name="Shape 3"/>
          <p:cNvSpPr/>
          <p:nvPr/>
        </p:nvSpPr>
        <p:spPr>
          <a:xfrm>
            <a:off x="594360" y="35204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6" name="Text 4"/>
          <p:cNvSpPr/>
          <p:nvPr/>
        </p:nvSpPr>
        <p:spPr>
          <a:xfrm>
            <a:off x="822960" y="3703320"/>
            <a:ext cx="3063240" cy="457200"/>
          </a:xfrm>
          <a:prstGeom prst="rect">
            <a:avLst/>
          </a:prstGeom>
          <a:noFill/>
          <a:ln/>
        </p:spPr>
        <p:txBody>
          <a:bodyPr wrap="square" lIns="0" tIns="0" rIns="0" bIns="0" rtlCol="0" anchor="ctr"/>
          <a:lstStyle/>
          <a:p>
            <a:pPr indent="0" marL="0">
              <a:buNone/>
            </a:pPr>
            <a:r>
              <a:rPr lang="en-US" sz="1250" b="1" spc="100" kern="0" dirty="0">
                <a:solidFill>
                  <a:srgbClr val="FF2D2D"/>
                </a:solidFill>
                <a:latin typeface="Courier New" pitchFamily="34" charset="0"/>
                <a:ea typeface="Courier New" pitchFamily="34" charset="-122"/>
                <a:cs typeface="Courier New" pitchFamily="34" charset="-120"/>
              </a:rPr>
              <a:t>EARLY USERS &amp; CREATORS</a:t>
            </a:r>
            <a:endParaRPr lang="en-US" sz="1250" dirty="0"/>
          </a:p>
        </p:txBody>
      </p:sp>
      <p:sp>
        <p:nvSpPr>
          <p:cNvPr id="7" name="Text 5"/>
          <p:cNvSpPr/>
          <p:nvPr/>
        </p:nvSpPr>
        <p:spPr>
          <a:xfrm>
            <a:off x="822960" y="4160520"/>
            <a:ext cx="3063240" cy="9601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Arial" pitchFamily="34" charset="0"/>
                <a:ea typeface="Arial" pitchFamily="34" charset="-122"/>
                <a:cs typeface="Arial" pitchFamily="34" charset="-120"/>
              </a:rPr>
              <a:t>Make a character that's truly yours — and help shape the standard.</a:t>
            </a:r>
            <a:endParaRPr lang="en-US" sz="1350" dirty="0"/>
          </a:p>
        </p:txBody>
      </p:sp>
      <p:sp>
        <p:nvSpPr>
          <p:cNvPr id="8" name="Shape 6"/>
          <p:cNvSpPr/>
          <p:nvPr/>
        </p:nvSpPr>
        <p:spPr>
          <a:xfrm>
            <a:off x="4288536" y="35204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9" name="Text 7"/>
          <p:cNvSpPr/>
          <p:nvPr/>
        </p:nvSpPr>
        <p:spPr>
          <a:xfrm>
            <a:off x="4517136" y="3703320"/>
            <a:ext cx="3063240" cy="457200"/>
          </a:xfrm>
          <a:prstGeom prst="rect">
            <a:avLst/>
          </a:prstGeom>
          <a:noFill/>
          <a:ln/>
        </p:spPr>
        <p:txBody>
          <a:bodyPr wrap="square" lIns="0" tIns="0" rIns="0" bIns="0" rtlCol="0" anchor="ctr"/>
          <a:lstStyle/>
          <a:p>
            <a:pPr indent="0" marL="0">
              <a:buNone/>
            </a:pPr>
            <a:r>
              <a:rPr lang="en-US" sz="1250" b="1" spc="100" kern="0" dirty="0">
                <a:solidFill>
                  <a:srgbClr val="FF2D2D"/>
                </a:solidFill>
                <a:latin typeface="Courier New" pitchFamily="34" charset="0"/>
                <a:ea typeface="Courier New" pitchFamily="34" charset="-122"/>
                <a:cs typeface="Courier New" pitchFamily="34" charset="-120"/>
              </a:rPr>
              <a:t>OPEN-SOURCE CONTRIBUTORS</a:t>
            </a:r>
            <a:endParaRPr lang="en-US" sz="1250" dirty="0"/>
          </a:p>
        </p:txBody>
      </p:sp>
      <p:sp>
        <p:nvSpPr>
          <p:cNvPr id="10" name="Text 8"/>
          <p:cNvSpPr/>
          <p:nvPr/>
        </p:nvSpPr>
        <p:spPr>
          <a:xfrm>
            <a:off x="4517136" y="4160520"/>
            <a:ext cx="3063240" cy="9601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Arial" pitchFamily="34" charset="0"/>
                <a:ea typeface="Arial" pitchFamily="34" charset="-122"/>
                <a:cs typeface="Arial" pitchFamily="34" charset="-120"/>
              </a:rPr>
              <a:t>Build on the passport spec, SDK, and memory engine.</a:t>
            </a:r>
            <a:endParaRPr lang="en-US" sz="1350" dirty="0"/>
          </a:p>
        </p:txBody>
      </p:sp>
      <p:sp>
        <p:nvSpPr>
          <p:cNvPr id="11" name="Shape 9"/>
          <p:cNvSpPr/>
          <p:nvPr/>
        </p:nvSpPr>
        <p:spPr>
          <a:xfrm>
            <a:off x="7982712" y="3520440"/>
            <a:ext cx="3474720" cy="1691640"/>
          </a:xfrm>
          <a:prstGeom prst="roundRect">
            <a:avLst>
              <a:gd name="adj" fmla="val 3243"/>
            </a:avLst>
          </a:prstGeom>
          <a:solidFill>
            <a:srgbClr val="1C1C21"/>
          </a:solidFill>
          <a:ln w="12700">
            <a:solidFill>
              <a:srgbClr val="2B2B31"/>
            </a:solidFill>
            <a:prstDash val="solid"/>
          </a:ln>
          <a:effectLst>
            <a:outerShdw sx="100000" sy="100000" kx="0" ky="0" algn="bl" rotWithShape="0" blurRad="114300" dist="50800" dir="5400000">
              <a:srgbClr val="000000">
                <a:alpha val="45000"/>
              </a:srgbClr>
            </a:outerShdw>
          </a:effectLst>
        </p:spPr>
      </p:sp>
      <p:sp>
        <p:nvSpPr>
          <p:cNvPr id="12" name="Text 10"/>
          <p:cNvSpPr/>
          <p:nvPr/>
        </p:nvSpPr>
        <p:spPr>
          <a:xfrm>
            <a:off x="8211312" y="3703320"/>
            <a:ext cx="3063240" cy="457200"/>
          </a:xfrm>
          <a:prstGeom prst="rect">
            <a:avLst/>
          </a:prstGeom>
          <a:noFill/>
          <a:ln/>
        </p:spPr>
        <p:txBody>
          <a:bodyPr wrap="square" lIns="0" tIns="0" rIns="0" bIns="0" rtlCol="0" anchor="ctr"/>
          <a:lstStyle/>
          <a:p>
            <a:pPr indent="0" marL="0">
              <a:buNone/>
            </a:pPr>
            <a:r>
              <a:rPr lang="en-US" sz="1250" b="1" spc="100" kern="0" dirty="0">
                <a:solidFill>
                  <a:srgbClr val="FF2D2D"/>
                </a:solidFill>
                <a:latin typeface="Courier New" pitchFamily="34" charset="0"/>
                <a:ea typeface="Courier New" pitchFamily="34" charset="-122"/>
                <a:cs typeface="Courier New" pitchFamily="34" charset="-120"/>
              </a:rPr>
              <a:t>PRE-SEED PARTNERS</a:t>
            </a:r>
            <a:endParaRPr lang="en-US" sz="1250" dirty="0"/>
          </a:p>
        </p:txBody>
      </p:sp>
      <p:sp>
        <p:nvSpPr>
          <p:cNvPr id="13" name="Text 11"/>
          <p:cNvSpPr/>
          <p:nvPr/>
        </p:nvSpPr>
        <p:spPr>
          <a:xfrm>
            <a:off x="8211312" y="4160520"/>
            <a:ext cx="3063240" cy="9601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Arial" pitchFamily="34" charset="0"/>
                <a:ea typeface="Arial" pitchFamily="34" charset="-122"/>
                <a:cs typeface="Arial" pitchFamily="34" charset="-120"/>
              </a:rPr>
              <a:t>Back the ownership layer for the AI companion era.</a:t>
            </a:r>
            <a:endParaRPr lang="en-US" sz="1350" dirty="0"/>
          </a:p>
        </p:txBody>
      </p:sp>
      <p:sp>
        <p:nvSpPr>
          <p:cNvPr id="14" name="Text 12"/>
          <p:cNvSpPr/>
          <p:nvPr/>
        </p:nvSpPr>
        <p:spPr>
          <a:xfrm>
            <a:off x="594360" y="553212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Create a character that's truly yours.</a:t>
            </a:r>
            <a:endParaRPr lang="en-US" sz="1600" dirty="0"/>
          </a:p>
        </p:txBody>
      </p:sp>
      <p:sp>
        <p:nvSpPr>
          <p:cNvPr id="15" name="Text 13"/>
          <p:cNvSpPr/>
          <p:nvPr/>
        </p:nvSpPr>
        <p:spPr>
          <a:xfrm>
            <a:off x="594360" y="5989320"/>
            <a:ext cx="10972800" cy="320040"/>
          </a:xfrm>
          <a:prstGeom prst="rect">
            <a:avLst/>
          </a:prstGeom>
          <a:noFill/>
          <a:ln/>
        </p:spPr>
        <p:txBody>
          <a:bodyPr wrap="square" lIns="0" tIns="0" rIns="0" bIns="0" rtlCol="0" anchor="ctr"/>
          <a:lstStyle/>
          <a:p>
            <a:pPr indent="0" marL="0">
              <a:buNone/>
            </a:pPr>
            <a:r>
              <a:rPr lang="en-US" sz="1100" dirty="0">
                <a:solidFill>
                  <a:srgbClr val="6C6C75"/>
                </a:solidFill>
                <a:latin typeface="Courier New" pitchFamily="34" charset="0"/>
                <a:ea typeface="Courier New" pitchFamily="34" charset="-122"/>
                <a:cs typeface="Courier New" pitchFamily="34" charset="-120"/>
              </a:rPr>
              <a:t>William Bello  ·  github.com/KINGKAZMAX/ZEALWISH-WEB  ·  UCWS Singapore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ZEALWISH — UCWS Singapore 2026</dc:title>
  <dc:subject>PptxGenJS Presentation</dc:subject>
  <dc:creator>William Bello</dc:creator>
  <cp:lastModifiedBy>William Bello</cp:lastModifiedBy>
  <cp:revision>1</cp:revision>
  <dcterms:created xsi:type="dcterms:W3CDTF">2026-06-12T18:02:02Z</dcterms:created>
  <dcterms:modified xsi:type="dcterms:W3CDTF">2026-06-12T18:02:02Z</dcterms:modified>
</cp:coreProperties>
</file>